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74" r:id="rId3"/>
    <p:sldId id="275" r:id="rId4"/>
    <p:sldId id="276" r:id="rId5"/>
    <p:sldId id="260" r:id="rId6"/>
    <p:sldId id="277" r:id="rId7"/>
    <p:sldId id="261" r:id="rId8"/>
    <p:sldId id="273" r:id="rId9"/>
    <p:sldId id="262" r:id="rId10"/>
    <p:sldId id="278" r:id="rId11"/>
    <p:sldId id="264" r:id="rId12"/>
    <p:sldId id="265" r:id="rId13"/>
    <p:sldId id="266" r:id="rId14"/>
    <p:sldId id="267" r:id="rId15"/>
    <p:sldId id="268" r:id="rId16"/>
    <p:sldId id="269" r:id="rId17"/>
    <p:sldId id="279" r:id="rId18"/>
    <p:sldId id="272" r:id="rId19"/>
  </p:sldIdLst>
  <p:sldSz cx="12192000" cy="6858000"/>
  <p:notesSz cx="6858000" cy="9144000"/>
  <p:embeddedFontLst>
    <p:embeddedFont>
      <p:font typeface="Arial Narrow" panose="020B0606020202030204" pitchFamily="34" charset="0"/>
      <p:regular r:id="rId21"/>
      <p:bold r:id="rId22"/>
      <p:italic r:id="rId23"/>
      <p:boldItalic r:id="rId2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xmlns="" r:id="rId26" roundtripDataSignature="AMtx7mgf10L9/O25FquuOPl/RY1EpRjfO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D9D3542-333F-44DB-A379-F55BF31B0EE3}" v="2" dt="2026-03-29T14:35:56.800"/>
  </p1510:revLst>
</p1510:revInfo>
</file>

<file path=ppt/tableStyles.xml><?xml version="1.0" encoding="utf-8"?>
<a:tblStyleLst xmlns:a="http://schemas.openxmlformats.org/drawingml/2006/main" def="{3CDD818E-ADFA-4579-856F-A3140DA02BD1}">
  <a:tblStyle styleId="{3CDD818E-ADFA-4579-856F-A3140DA02BD1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BF1E8"/>
          </a:solidFill>
        </a:fill>
      </a:tcStyle>
    </a:wholeTbl>
    <a:band1H>
      <a:tcTxStyle/>
      <a:tcStyle>
        <a:tcBdr/>
        <a:fill>
          <a:solidFill>
            <a:srgbClr val="D4E2CE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D4E2CE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6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6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customschemas.google.com/relationships/presentationmetadata" Target="metadata"/><Relationship Id="rId3" Type="http://schemas.openxmlformats.org/officeDocument/2006/relationships/slide" Target="slides/slide2.xml"/><Relationship Id="rId21" Type="http://schemas.openxmlformats.org/officeDocument/2006/relationships/font" Target="fonts/font1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4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3.fntdata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2.fntdata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2" name="Google Shape;10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9" name="Google Shape;109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6" name="Google Shape;116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">
          <a:extLst>
            <a:ext uri="{FF2B5EF4-FFF2-40B4-BE49-F238E27FC236}">
              <a16:creationId xmlns:a16="http://schemas.microsoft.com/office/drawing/2014/main" id="{F2678C13-4878-21A0-FED1-90F50E37F0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5:notes">
            <a:extLst>
              <a:ext uri="{FF2B5EF4-FFF2-40B4-BE49-F238E27FC236}">
                <a16:creationId xmlns:a16="http://schemas.microsoft.com/office/drawing/2014/main" id="{778AF213-8392-E589-D043-C0B2677AAEF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6" name="Google Shape;116;p5:notes">
            <a:extLst>
              <a:ext uri="{FF2B5EF4-FFF2-40B4-BE49-F238E27FC236}">
                <a16:creationId xmlns:a16="http://schemas.microsoft.com/office/drawing/2014/main" id="{0E5824A0-029C-EDE9-F131-6C6D6A63B33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88586270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4" name="Google Shape;124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>
          <a:extLst>
            <a:ext uri="{FF2B5EF4-FFF2-40B4-BE49-F238E27FC236}">
              <a16:creationId xmlns:a16="http://schemas.microsoft.com/office/drawing/2014/main" id="{FFC7DFEF-3B2E-D017-0B21-BC210BF462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6:notes">
            <a:extLst>
              <a:ext uri="{FF2B5EF4-FFF2-40B4-BE49-F238E27FC236}">
                <a16:creationId xmlns:a16="http://schemas.microsoft.com/office/drawing/2014/main" id="{1B5CA6E9-7386-2799-6840-751B808D742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4" name="Google Shape;124;p6:notes">
            <a:extLst>
              <a:ext uri="{FF2B5EF4-FFF2-40B4-BE49-F238E27FC236}">
                <a16:creationId xmlns:a16="http://schemas.microsoft.com/office/drawing/2014/main" id="{EA42349E-92BC-7FC0-2C31-D4076D7383E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1719837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" name="Google Shape;130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36" name="Google Shape;136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4" name="Google Shape;144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1" name="Google Shape;151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8" name="Google Shape;158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5" name="Google Shape;165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9" name="Google Shape;179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1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2" name="Google Shape;192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">
          <a:extLst>
            <a:ext uri="{FF2B5EF4-FFF2-40B4-BE49-F238E27FC236}">
              <a16:creationId xmlns:a16="http://schemas.microsoft.com/office/drawing/2014/main" id="{3C1E655B-A341-3619-F687-C18AD4E094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16:notes">
            <a:extLst>
              <a:ext uri="{FF2B5EF4-FFF2-40B4-BE49-F238E27FC236}">
                <a16:creationId xmlns:a16="http://schemas.microsoft.com/office/drawing/2014/main" id="{42A01C9D-D513-EC7A-DB57-5A2A126154D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2" name="Google Shape;192;p16:notes">
            <a:extLst>
              <a:ext uri="{FF2B5EF4-FFF2-40B4-BE49-F238E27FC236}">
                <a16:creationId xmlns:a16="http://schemas.microsoft.com/office/drawing/2014/main" id="{20F5E407-20E3-63F2-7964-49A89E8D03B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8885334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1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8" name="Google Shape;18;p1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1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1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1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1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20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20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28" name="Google Shape;28;p20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9" name="Google Shape;29;p20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0" name="Google Shape;30;p20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1" name="Google Shape;31;p2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2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2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21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21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37" name="Google Shape;37;p2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2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2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2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22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43" name="Google Shape;43;p2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2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2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2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2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9" name="Google Shape;49;p23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0" name="Google Shape;50;p2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2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2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2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2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2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2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5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1" name="Google Shape;61;p25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2" name="Google Shape;62;p2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2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2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6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26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26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9" name="Google Shape;69;p2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2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2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27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2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2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2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8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28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2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2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2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17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"/>
          <p:cNvSpPr txBox="1">
            <a:spLocks noGrp="1"/>
          </p:cNvSpPr>
          <p:nvPr>
            <p:ph type="body" idx="1"/>
          </p:nvPr>
        </p:nvSpPr>
        <p:spPr>
          <a:xfrm>
            <a:off x="0" y="2342250"/>
            <a:ext cx="12119100" cy="419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</a:pPr>
            <a:r>
              <a:rPr lang="en-US" sz="3600" b="1" dirty="0">
                <a:latin typeface="Arial Narrow"/>
                <a:ea typeface="Arial Narrow"/>
                <a:cs typeface="Arial Narrow"/>
                <a:sym typeface="Arial Narrow"/>
              </a:rPr>
              <a:t>DEPARTMENT OF COMPUTER SCIENCE AND ENGINEERING</a:t>
            </a:r>
            <a:endParaRPr dirty="0">
              <a:latin typeface="Arial Narrow"/>
              <a:ea typeface="Arial Narrow"/>
              <a:cs typeface="Arial Narrow"/>
              <a:sym typeface="Arial Narrow"/>
            </a:endParaRPr>
          </a:p>
          <a:p>
            <a:pPr marL="0" lvl="0" indent="0" algn="ctr">
              <a:buSzPts val="3600"/>
              <a:buNone/>
            </a:pPr>
            <a:r>
              <a:rPr lang="en-US" b="1" dirty="0">
                <a:latin typeface="Arial Narrow"/>
              </a:rPr>
              <a:t>20CS8504 &amp; PROJECT WORK</a:t>
            </a:r>
            <a:endParaRPr b="1" dirty="0">
              <a:latin typeface="Arial Narrow"/>
              <a:sym typeface="Arial Narrow"/>
            </a:endParaRPr>
          </a:p>
          <a:p>
            <a:pPr marL="0" lvl="0" indent="0" algn="ctr">
              <a:buSzPts val="3600"/>
              <a:buNone/>
            </a:pPr>
            <a:r>
              <a:rPr lang="en-US" b="1" dirty="0">
                <a:latin typeface="Arial Narrow"/>
                <a:ea typeface="Arial Narrow"/>
                <a:cs typeface="Arial Narrow"/>
                <a:sym typeface="Arial Narrow"/>
              </a:rPr>
              <a:t>END SEMESTER PRACTICAL EXAMINATION- APRIL / MAY – 2026</a:t>
            </a:r>
          </a:p>
          <a:p>
            <a:pPr marL="0" lvl="0" indent="0" algn="ctr">
              <a:buSzPts val="3600"/>
              <a:buNone/>
            </a:pPr>
            <a:endParaRPr lang="en-US" dirty="0">
              <a:latin typeface="Arial Narrow"/>
              <a:ea typeface="Arial Narrow"/>
              <a:cs typeface="Arial Narrow"/>
              <a:sym typeface="Arial Narrow"/>
            </a:endParaRPr>
          </a:p>
          <a:p>
            <a:pPr marL="0" lvl="0" indent="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 b="1" dirty="0">
                <a:latin typeface="Arial Narrow"/>
                <a:ea typeface="Arial Narrow"/>
                <a:cs typeface="Arial Narrow"/>
                <a:sym typeface="Arial Narrow"/>
              </a:rPr>
              <a:t>Batch No.: 12</a:t>
            </a:r>
            <a:endParaRPr lang="en-US" dirty="0">
              <a:latin typeface="Arial Narrow"/>
              <a:ea typeface="Arial Narrow"/>
              <a:cs typeface="Arial Narrow"/>
              <a:sym typeface="Arial Narrow"/>
            </a:endParaRPr>
          </a:p>
          <a:p>
            <a:pPr marL="0" lvl="0" indent="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 b="1" dirty="0">
                <a:latin typeface="Arial Narrow"/>
                <a:ea typeface="Arial Narrow"/>
                <a:cs typeface="Arial Narrow"/>
                <a:sym typeface="Arial Narrow"/>
              </a:rPr>
              <a:t>Date         : 30/03/2026</a:t>
            </a:r>
          </a:p>
          <a:p>
            <a:pPr marL="0" lvl="0" indent="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 b="1" dirty="0">
                <a:latin typeface="Arial Narrow"/>
                <a:ea typeface="Arial Narrow"/>
                <a:cs typeface="Arial Narrow"/>
                <a:sym typeface="Arial Narrow"/>
              </a:rPr>
              <a:t>Session   : AN</a:t>
            </a:r>
            <a:endParaRPr b="1" dirty="0"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89" name="Google Shape;89;p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fld>
            <a:endParaRPr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91" name="Google Shape;91;p1"/>
          <p:cNvPicPr preferRelativeResize="0"/>
          <p:nvPr/>
        </p:nvPicPr>
        <p:blipFill>
          <a:blip r:embed="rId3">
            <a:alphaModFix/>
          </a:blip>
          <a:srcRect l="16357" r="14907" b="8148"/>
          <a:stretch>
            <a:fillRect/>
          </a:stretch>
        </p:blipFill>
        <p:spPr>
          <a:xfrm>
            <a:off x="11215585" y="65332"/>
            <a:ext cx="903515" cy="511635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1F1154A9-AC42-7CD3-98A5-5A0376D6534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932" y="0"/>
            <a:ext cx="5348811" cy="187359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"/>
          <p:cNvSpPr txBox="1">
            <a:spLocks noGrp="1"/>
          </p:cNvSpPr>
          <p:nvPr>
            <p:ph type="body" idx="1"/>
          </p:nvPr>
        </p:nvSpPr>
        <p:spPr>
          <a:xfrm>
            <a:off x="575875" y="501649"/>
            <a:ext cx="10604305" cy="20227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/>
          </a:bodyPr>
          <a:lstStyle/>
          <a:p>
            <a:pPr marL="0" lvl="0" indent="0" algn="ctr">
              <a:buSzPts val="3600"/>
              <a:buNone/>
            </a:pPr>
            <a:r>
              <a:rPr lang="en-US" sz="3200" b="1" dirty="0">
                <a:latin typeface="Times New Roman" panose="02020603050405020304" pitchFamily="18" charset="0"/>
                <a:ea typeface="Arial Narrow"/>
                <a:cs typeface="Times New Roman" panose="02020603050405020304" pitchFamily="18" charset="0"/>
                <a:sym typeface="Arial Narrow"/>
              </a:rPr>
              <a:t>AN EXPLAINABLE ATTENTION-BASED MULTIMODAL </a:t>
            </a:r>
          </a:p>
          <a:p>
            <a:pPr marL="0" lvl="0" indent="0" algn="ctr">
              <a:buSzPts val="3600"/>
              <a:buNone/>
            </a:pPr>
            <a:r>
              <a:rPr lang="en-US" sz="3200" b="1" dirty="0">
                <a:latin typeface="Times New Roman" panose="02020603050405020304" pitchFamily="18" charset="0"/>
                <a:ea typeface="Arial Narrow"/>
                <a:cs typeface="Times New Roman" panose="02020603050405020304" pitchFamily="18" charset="0"/>
                <a:sym typeface="Arial Narrow"/>
              </a:rPr>
              <a:t>DEEP LEARNING FRAMEWORK FOR ACTIVE AND</a:t>
            </a:r>
          </a:p>
          <a:p>
            <a:pPr marL="0" lvl="0" indent="0" algn="ctr">
              <a:buSzPts val="3600"/>
              <a:buNone/>
            </a:pPr>
            <a:r>
              <a:rPr lang="en-US" sz="3200" b="1" dirty="0">
                <a:latin typeface="Times New Roman" panose="02020603050405020304" pitchFamily="18" charset="0"/>
                <a:ea typeface="Arial Narrow"/>
                <a:cs typeface="Times New Roman" panose="02020603050405020304" pitchFamily="18" charset="0"/>
                <a:sym typeface="Arial Narrow"/>
              </a:rPr>
              <a:t> LATENT TUBERCULOSIS DETECTION</a:t>
            </a:r>
            <a:endParaRPr lang="en-US" sz="2400" b="1" dirty="0">
              <a:latin typeface="Times New Roman" panose="02020603050405020304" pitchFamily="18" charset="0"/>
              <a:ea typeface="Arial Narrow"/>
              <a:cs typeface="Times New Roman" panose="02020603050405020304" pitchFamily="18" charset="0"/>
              <a:sym typeface="Arial Narrow"/>
            </a:endParaRPr>
          </a:p>
        </p:txBody>
      </p:sp>
      <p:sp>
        <p:nvSpPr>
          <p:cNvPr id="97" name="Google Shape;97;p2"/>
          <p:cNvSpPr txBox="1">
            <a:spLocks noGrp="1"/>
          </p:cNvSpPr>
          <p:nvPr>
            <p:ph type="sldNum" idx="12"/>
          </p:nvPr>
        </p:nvSpPr>
        <p:spPr>
          <a:xfrm>
            <a:off x="843698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 b="1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2</a:t>
            </a:fld>
            <a:endParaRPr b="1">
              <a:solidFill>
                <a:schemeClr val="dk1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  <p:sp>
        <p:nvSpPr>
          <p:cNvPr id="98" name="Google Shape;98;p2"/>
          <p:cNvSpPr txBox="1">
            <a:spLocks noGrp="1"/>
          </p:cNvSpPr>
          <p:nvPr>
            <p:ph type="body" idx="1"/>
          </p:nvPr>
        </p:nvSpPr>
        <p:spPr>
          <a:xfrm>
            <a:off x="575875" y="3631450"/>
            <a:ext cx="4712791" cy="272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 b="1" dirty="0">
                <a:latin typeface="Times New Roman" panose="02020603050405020304" pitchFamily="18" charset="0"/>
                <a:ea typeface="Arial Narrow"/>
                <a:cs typeface="Times New Roman" panose="02020603050405020304" pitchFamily="18" charset="0"/>
                <a:sym typeface="Arial Narrow"/>
              </a:rPr>
              <a:t>Guide Name: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GB" sz="2400" b="1" dirty="0">
                <a:latin typeface="Times New Roman" panose="02020603050405020304" pitchFamily="18" charset="0"/>
                <a:ea typeface="Arial Narrow"/>
                <a:cs typeface="Times New Roman" panose="02020603050405020304" pitchFamily="18" charset="0"/>
                <a:sym typeface="Arial Narrow"/>
              </a:rPr>
              <a:t>Mrs.</a:t>
            </a:r>
            <a:r>
              <a:rPr lang="en-US" sz="2400" b="1" dirty="0">
                <a:latin typeface="Times New Roman" panose="02020603050405020304" pitchFamily="18" charset="0"/>
                <a:ea typeface="Arial Narrow"/>
                <a:cs typeface="Times New Roman" panose="02020603050405020304" pitchFamily="18" charset="0"/>
                <a:sym typeface="Arial Narrow"/>
              </a:rPr>
              <a:t>R.</a:t>
            </a:r>
            <a:r>
              <a:rPr lang="en-GB" sz="2400" b="1" dirty="0">
                <a:latin typeface="Times New Roman" panose="02020603050405020304" pitchFamily="18" charset="0"/>
                <a:ea typeface="Arial Narrow"/>
                <a:cs typeface="Times New Roman" panose="02020603050405020304" pitchFamily="18" charset="0"/>
                <a:sym typeface="Arial Narrow"/>
              </a:rPr>
              <a:t> </a:t>
            </a:r>
            <a:r>
              <a:rPr lang="en-US" sz="2400" b="1" dirty="0" err="1">
                <a:latin typeface="Times New Roman" panose="02020603050405020304" pitchFamily="18" charset="0"/>
                <a:ea typeface="Arial Narrow"/>
                <a:cs typeface="Times New Roman" panose="02020603050405020304" pitchFamily="18" charset="0"/>
                <a:sym typeface="Arial Narrow"/>
              </a:rPr>
              <a:t>Deepa</a:t>
            </a:r>
            <a:r>
              <a:rPr lang="en-US" sz="2400" b="1" dirty="0">
                <a:latin typeface="Times New Roman" panose="02020603050405020304" pitchFamily="18" charset="0"/>
                <a:ea typeface="Arial Narrow"/>
                <a:cs typeface="Times New Roman" panose="02020603050405020304" pitchFamily="18" charset="0"/>
                <a:sym typeface="Arial Narrow"/>
              </a:rPr>
              <a:t> ,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 b="1" dirty="0" err="1">
                <a:latin typeface="Times New Roman" panose="02020603050405020304" pitchFamily="18" charset="0"/>
                <a:ea typeface="Arial Narrow"/>
                <a:cs typeface="Times New Roman" panose="02020603050405020304" pitchFamily="18" charset="0"/>
                <a:sym typeface="Arial Narrow"/>
              </a:rPr>
              <a:t>Assisstant</a:t>
            </a:r>
            <a:r>
              <a:rPr lang="en-US" sz="2400" b="1" dirty="0">
                <a:latin typeface="Times New Roman" panose="02020603050405020304" pitchFamily="18" charset="0"/>
                <a:ea typeface="Arial Narrow"/>
                <a:cs typeface="Times New Roman" panose="02020603050405020304" pitchFamily="18" charset="0"/>
                <a:sym typeface="Arial Narrow"/>
              </a:rPr>
              <a:t> </a:t>
            </a:r>
            <a:r>
              <a:rPr lang="en-US" sz="2400" b="1" dirty="0" err="1">
                <a:latin typeface="Times New Roman" panose="02020603050405020304" pitchFamily="18" charset="0"/>
                <a:ea typeface="Arial Narrow"/>
                <a:cs typeface="Times New Roman" panose="02020603050405020304" pitchFamily="18" charset="0"/>
                <a:sym typeface="Arial Narrow"/>
              </a:rPr>
              <a:t>Professor,CSE</a:t>
            </a:r>
            <a:endParaRPr b="1" dirty="0">
              <a:latin typeface="Times New Roman" panose="02020603050405020304" pitchFamily="18" charset="0"/>
              <a:ea typeface="Arial Narrow"/>
              <a:cs typeface="Times New Roman" panose="02020603050405020304" pitchFamily="18" charset="0"/>
              <a:sym typeface="Arial Narrow"/>
            </a:endParaRPr>
          </a:p>
        </p:txBody>
      </p:sp>
      <p:sp>
        <p:nvSpPr>
          <p:cNvPr id="99" name="Google Shape;99;p2"/>
          <p:cNvSpPr txBox="1">
            <a:spLocks noGrp="1"/>
          </p:cNvSpPr>
          <p:nvPr>
            <p:ph type="body" idx="1"/>
          </p:nvPr>
        </p:nvSpPr>
        <p:spPr>
          <a:xfrm>
            <a:off x="6773375" y="3594414"/>
            <a:ext cx="5322170" cy="272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 b="1" dirty="0">
                <a:latin typeface="Times New Roman" panose="02020603050405020304" pitchFamily="18" charset="0"/>
                <a:ea typeface="Arial Narrow"/>
                <a:cs typeface="Times New Roman" panose="02020603050405020304" pitchFamily="18" charset="0"/>
                <a:sym typeface="Arial Narrow"/>
              </a:rPr>
              <a:t>Team Members: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 b="1" dirty="0">
                <a:latin typeface="Times New Roman" panose="02020603050405020304" pitchFamily="18" charset="0"/>
                <a:ea typeface="Arial Narrow"/>
                <a:cs typeface="Times New Roman" panose="02020603050405020304" pitchFamily="18" charset="0"/>
                <a:sym typeface="Arial Narrow"/>
              </a:rPr>
              <a:t>SANTHOSH T(811722104134)</a:t>
            </a:r>
          </a:p>
          <a:p>
            <a:pPr marL="0" lvl="0" indent="0">
              <a:buSzPts val="2400"/>
              <a:buNone/>
            </a:pPr>
            <a:r>
              <a:rPr lang="en-US" sz="2400" b="1" dirty="0">
                <a:latin typeface="Times New Roman" panose="02020603050405020304" pitchFamily="18" charset="0"/>
                <a:ea typeface="Arial Narrow"/>
                <a:cs typeface="Times New Roman" panose="02020603050405020304" pitchFamily="18" charset="0"/>
                <a:sym typeface="Arial Narrow"/>
              </a:rPr>
              <a:t>SWATH</a:t>
            </a:r>
            <a:r>
              <a:rPr lang="en-GB" sz="2400" b="1" dirty="0">
                <a:latin typeface="Times New Roman" panose="02020603050405020304" pitchFamily="18" charset="0"/>
                <a:ea typeface="Arial Narrow"/>
                <a:cs typeface="Times New Roman" panose="02020603050405020304" pitchFamily="18" charset="0"/>
                <a:sym typeface="Arial Narrow"/>
              </a:rPr>
              <a:t>I </a:t>
            </a:r>
            <a:r>
              <a:rPr lang="en-US" sz="2400" b="1" dirty="0">
                <a:latin typeface="Times New Roman" panose="02020603050405020304" pitchFamily="18" charset="0"/>
                <a:ea typeface="Arial Narrow"/>
                <a:cs typeface="Times New Roman" panose="02020603050405020304" pitchFamily="18" charset="0"/>
                <a:sym typeface="Arial Narrow"/>
              </a:rPr>
              <a:t>R (811722104165)</a:t>
            </a:r>
          </a:p>
          <a:p>
            <a:pPr marL="0" lvl="0" indent="0">
              <a:buSzPts val="2400"/>
              <a:buNone/>
            </a:pPr>
            <a:r>
              <a:rPr lang="en-US" sz="2400" b="1" dirty="0">
                <a:latin typeface="Times New Roman" panose="02020603050405020304" pitchFamily="18" charset="0"/>
                <a:ea typeface="Arial Narrow"/>
                <a:cs typeface="Times New Roman" panose="02020603050405020304" pitchFamily="18" charset="0"/>
                <a:sym typeface="Arial Narrow"/>
              </a:rPr>
              <a:t>VIGNESH V (811722104180)</a:t>
            </a:r>
          </a:p>
          <a:p>
            <a:pPr marL="0" lvl="0" indent="0">
              <a:buSzPts val="2400"/>
              <a:buNone/>
            </a:pPr>
            <a:r>
              <a:rPr lang="en-US" sz="2400" b="1" dirty="0">
                <a:latin typeface="Times New Roman" panose="02020603050405020304" pitchFamily="18" charset="0"/>
                <a:ea typeface="Arial Narrow"/>
                <a:cs typeface="Times New Roman" panose="02020603050405020304" pitchFamily="18" charset="0"/>
                <a:sym typeface="Arial Narrow"/>
              </a:rPr>
              <a:t>VIGNESHWARAN R</a:t>
            </a:r>
            <a:r>
              <a:rPr lang="en-US" b="1" dirty="0">
                <a:latin typeface="Times New Roman" panose="02020603050405020304" pitchFamily="18" charset="0"/>
                <a:ea typeface="Arial Narrow"/>
                <a:cs typeface="Times New Roman" panose="02020603050405020304" pitchFamily="18" charset="0"/>
                <a:sym typeface="Arial Narrow"/>
              </a:rPr>
              <a:t> </a:t>
            </a:r>
            <a:r>
              <a:rPr lang="en-US" sz="2400" b="1" dirty="0">
                <a:latin typeface="Times New Roman" panose="02020603050405020304" pitchFamily="18" charset="0"/>
                <a:ea typeface="Arial Narrow"/>
                <a:cs typeface="Times New Roman" panose="02020603050405020304" pitchFamily="18" charset="0"/>
                <a:sym typeface="Arial Narrow"/>
              </a:rPr>
              <a:t>(811722104181)</a:t>
            </a:r>
            <a:endParaRPr b="1" dirty="0">
              <a:latin typeface="Times New Roman" panose="02020603050405020304" pitchFamily="18" charset="0"/>
              <a:ea typeface="Arial Narrow"/>
              <a:cs typeface="Times New Roman" panose="02020603050405020304" pitchFamily="18" charset="0"/>
              <a:sym typeface="Arial Narrow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"/>
          <p:cNvSpPr txBox="1">
            <a:spLocks noGrp="1"/>
          </p:cNvSpPr>
          <p:nvPr>
            <p:ph type="title"/>
          </p:nvPr>
        </p:nvSpPr>
        <p:spPr>
          <a:xfrm>
            <a:off x="838200" y="0"/>
            <a:ext cx="10515600" cy="94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lang="en-US" b="1">
                <a:latin typeface="Arial Narrow"/>
                <a:ea typeface="Arial Narrow"/>
                <a:cs typeface="Arial Narrow"/>
                <a:sym typeface="Arial Narrow"/>
              </a:rPr>
              <a:t>OBJECTIVE OF THE PROJECT</a:t>
            </a:r>
            <a:endParaRPr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105" name="Google Shape;105;p3"/>
          <p:cNvSpPr txBox="1">
            <a:spLocks noGrp="1"/>
          </p:cNvSpPr>
          <p:nvPr>
            <p:ph type="body" idx="1"/>
          </p:nvPr>
        </p:nvSpPr>
        <p:spPr>
          <a:xfrm>
            <a:off x="838200" y="1319300"/>
            <a:ext cx="10933253" cy="466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85000" lnSpcReduction="10000"/>
          </a:bodyPr>
          <a:lstStyle/>
          <a:p>
            <a:pPr marL="514350" lvl="0" indent="-514350" algn="just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tx1">
                  <a:lumMod val="95000"/>
                  <a:lumOff val="5000"/>
                </a:schemeClr>
              </a:buClr>
              <a:buSzPts val="2800"/>
              <a:buAutoNum type="arabicPeriod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  <a:sym typeface="Arial Narrow"/>
              </a:rPr>
              <a:t>To develop a robust multimodal AI system that integrates medical imaging, clinical data, and biomarker information for accurate tuberculosis detection.</a:t>
            </a:r>
          </a:p>
          <a:p>
            <a:pPr marL="514350" lvl="0" indent="-514350" algn="just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tx1">
                  <a:lumMod val="95000"/>
                  <a:lumOff val="5000"/>
                </a:schemeClr>
              </a:buClr>
              <a:buSzPts val="2800"/>
              <a:buAutoNum type="arabicPeriod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  <a:sym typeface="Arial Narrow"/>
              </a:rPr>
              <a:t>To distinguish between active tuberculosis and latent tuberculosis using attention-based multimodal learning techniques.</a:t>
            </a:r>
          </a:p>
          <a:p>
            <a:pPr marL="514350" lvl="0" indent="-514350" algn="just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tx1">
                  <a:lumMod val="95000"/>
                  <a:lumOff val="5000"/>
                </a:schemeClr>
              </a:buClr>
              <a:buSzPts val="2800"/>
              <a:buAutoNum type="arabicPeriod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  <a:sym typeface="Arial Narrow"/>
              </a:rPr>
              <a:t>To design an explainable AI framework that provides interpretable predictions through image, feature, and modality-level explanations.</a:t>
            </a:r>
          </a:p>
          <a:p>
            <a:pPr marL="514350" lvl="0" indent="-514350" algn="just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tx1">
                  <a:lumMod val="95000"/>
                  <a:lumOff val="5000"/>
                </a:schemeClr>
              </a:buClr>
              <a:buSzPts val="2800"/>
              <a:buAutoNum type="arabicPeriod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  <a:sym typeface="Arial Narrow"/>
              </a:rPr>
              <a:t>To handle missing and imbalanced multimodal data effectively, ensuring reliable performance in real-world clinical scenarios.</a:t>
            </a:r>
          </a:p>
          <a:p>
            <a:pPr marL="514350" lvl="0" indent="-514350" algn="just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tx1">
                  <a:lumMod val="95000"/>
                  <a:lumOff val="5000"/>
                </a:schemeClr>
              </a:buClr>
              <a:buSzPts val="2800"/>
              <a:buAutoNum type="arabicPeriod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  <a:sym typeface="Arial Narrow"/>
              </a:rPr>
              <a:t>To support clinical decision-making by predicting the risk of progression from latent TB to active TB with transparent and trustworthy outputs.</a:t>
            </a:r>
            <a:endParaRPr sz="3000" dirty="0">
              <a:latin typeface="Times New Roman" panose="02020603050405020304" pitchFamily="18" charset="0"/>
              <a:cs typeface="Times New Roman" panose="02020603050405020304" pitchFamily="18" charset="0"/>
              <a:sym typeface="Arial Narrow"/>
            </a:endParaRPr>
          </a:p>
          <a:p>
            <a:pPr marL="514350" lvl="0" indent="-514350" algn="just" rtl="0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tx1">
                  <a:lumMod val="95000"/>
                  <a:lumOff val="5000"/>
                </a:schemeClr>
              </a:buClr>
              <a:buSzPts val="2800"/>
              <a:buFont typeface="+mj-lt"/>
              <a:buAutoNum type="arabicPeriod"/>
            </a:pPr>
            <a:endParaRPr dirty="0">
              <a:latin typeface="Times New Roman" panose="02020603050405020304" pitchFamily="18" charset="0"/>
              <a:cs typeface="Times New Roman" panose="02020603050405020304" pitchFamily="18" charset="0"/>
              <a:sym typeface="Arial Narrow"/>
            </a:endParaRPr>
          </a:p>
        </p:txBody>
      </p:sp>
      <p:sp>
        <p:nvSpPr>
          <p:cNvPr id="106" name="Google Shape;106;p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 b="1">
                <a:solidFill>
                  <a:schemeClr val="dk1"/>
                </a:solidFill>
              </a:rPr>
              <a:t>3</a:t>
            </a:fld>
            <a:endParaRPr b="1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4"/>
          <p:cNvSpPr txBox="1">
            <a:spLocks noGrp="1"/>
          </p:cNvSpPr>
          <p:nvPr>
            <p:ph type="title"/>
          </p:nvPr>
        </p:nvSpPr>
        <p:spPr>
          <a:xfrm>
            <a:off x="0" y="0"/>
            <a:ext cx="12192000" cy="81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lang="en-US" b="1">
                <a:latin typeface="Arial Narrow"/>
                <a:ea typeface="Arial Narrow"/>
                <a:cs typeface="Arial Narrow"/>
                <a:sym typeface="Arial Narrow"/>
              </a:rPr>
              <a:t>INTRODUCTION</a:t>
            </a:r>
            <a:endParaRPr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112" name="Google Shape;112;p4"/>
          <p:cNvSpPr txBox="1">
            <a:spLocks noGrp="1"/>
          </p:cNvSpPr>
          <p:nvPr>
            <p:ph type="body" idx="1"/>
          </p:nvPr>
        </p:nvSpPr>
        <p:spPr>
          <a:xfrm>
            <a:off x="687729" y="1212166"/>
            <a:ext cx="11349942" cy="55093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514350" indent="-514350" algn="just">
              <a:lnSpc>
                <a:spcPct val="100000"/>
              </a:lnSpc>
              <a:spcBef>
                <a:spcPts val="0"/>
              </a:spcBef>
              <a:buSzPts val="2800"/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Tuberculosis (TB) is a major infectious disease that continues to pose a serious global health challenge. </a:t>
            </a:r>
          </a:p>
          <a:p>
            <a:pPr marL="514350" indent="-514350" algn="just">
              <a:lnSpc>
                <a:spcPct val="100000"/>
              </a:lnSpc>
              <a:spcBef>
                <a:spcPts val="0"/>
              </a:spcBef>
              <a:buSzPts val="2800"/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Accurate and early diagnosis is essential for effective treatment and prevention of disease spread. </a:t>
            </a:r>
          </a:p>
          <a:p>
            <a:pPr marL="514350" indent="-514350" algn="just">
              <a:lnSpc>
                <a:spcPct val="100000"/>
              </a:lnSpc>
              <a:spcBef>
                <a:spcPts val="0"/>
              </a:spcBef>
              <a:buSzPts val="2800"/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Conventional diagnostic approaches often depend on medical imaging and laboratory tests, which may be insufficient for identifying latent TB cases. </a:t>
            </a:r>
          </a:p>
          <a:p>
            <a:pPr marL="514350" indent="-514350" algn="just">
              <a:lnSpc>
                <a:spcPct val="100000"/>
              </a:lnSpc>
              <a:spcBef>
                <a:spcPts val="0"/>
              </a:spcBef>
              <a:buSzPts val="2800"/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Recent advances in artificial intelligence have enabled automated TB detection using deep learning models.</a:t>
            </a:r>
          </a:p>
          <a:p>
            <a:pPr marL="514350" indent="-514350" algn="just">
              <a:lnSpc>
                <a:spcPct val="100000"/>
              </a:lnSpc>
              <a:spcBef>
                <a:spcPts val="0"/>
              </a:spcBef>
              <a:buSzPts val="2800"/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proposes an explainable multimodal AI framework that integrates imaging, clinical, and biomarker data to improve diagnostic accuracy and support transparent clinical decision-making.</a:t>
            </a:r>
          </a:p>
          <a:p>
            <a:pPr marL="514350" lvl="0" indent="-5143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+mj-lt"/>
              <a:buAutoNum type="arabicPeriod"/>
            </a:pPr>
            <a:endParaRPr dirty="0">
              <a:latin typeface="Times New Roman" panose="02020603050405020304" pitchFamily="18" charset="0"/>
              <a:ea typeface="Arial Narrow"/>
              <a:cs typeface="Times New Roman" panose="02020603050405020304" pitchFamily="18" charset="0"/>
              <a:sym typeface="Arial Narrow"/>
            </a:endParaRPr>
          </a:p>
        </p:txBody>
      </p:sp>
      <p:sp>
        <p:nvSpPr>
          <p:cNvPr id="113" name="Google Shape;113;p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 b="1">
                <a:solidFill>
                  <a:schemeClr val="dk1"/>
                </a:solidFill>
              </a:rPr>
              <a:t>4</a:t>
            </a:fld>
            <a:endParaRPr b="1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5"/>
          <p:cNvSpPr/>
          <p:nvPr/>
        </p:nvSpPr>
        <p:spPr>
          <a:xfrm>
            <a:off x="8753993" y="62420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200" b="0" i="0" u="none" strike="noStrike" cap="none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b="1">
                <a:solidFill>
                  <a:schemeClr val="dk1"/>
                </a:solidFill>
              </a:rPr>
              <a:t>5</a:t>
            </a:fld>
            <a:endParaRPr b="1">
              <a:solidFill>
                <a:schemeClr val="dk1"/>
              </a:solidFill>
            </a:endParaRPr>
          </a:p>
        </p:txBody>
      </p:sp>
      <p:sp>
        <p:nvSpPr>
          <p:cNvPr id="120" name="Google Shape;120;p5"/>
          <p:cNvSpPr/>
          <p:nvPr/>
        </p:nvSpPr>
        <p:spPr>
          <a:xfrm>
            <a:off x="68855" y="0"/>
            <a:ext cx="12054300" cy="7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rPr>
              <a:t>LITERATURE SURVEY</a:t>
            </a:r>
            <a:endParaRPr>
              <a:latin typeface="Arial Narrow"/>
              <a:ea typeface="Arial Narrow"/>
              <a:cs typeface="Arial Narrow"/>
              <a:sym typeface="Arial Narrow"/>
            </a:endParaRPr>
          </a:p>
        </p:txBody>
      </p:sp>
      <p:graphicFrame>
        <p:nvGraphicFramePr>
          <p:cNvPr id="121" name="Google Shape;121;p5"/>
          <p:cNvGraphicFramePr/>
          <p:nvPr>
            <p:extLst>
              <p:ext uri="{D42A27DB-BD31-4B8C-83A1-F6EECF244321}">
                <p14:modId xmlns:p14="http://schemas.microsoft.com/office/powerpoint/2010/main" val="2959594242"/>
              </p:ext>
            </p:extLst>
          </p:nvPr>
        </p:nvGraphicFramePr>
        <p:xfrm>
          <a:off x="68845" y="688258"/>
          <a:ext cx="12054301" cy="6155970"/>
        </p:xfrm>
        <a:graphic>
          <a:graphicData uri="http://schemas.openxmlformats.org/drawingml/2006/table">
            <a:tbl>
              <a:tblPr firstRow="1" bandRow="1">
                <a:noFill/>
                <a:tableStyleId>{3CDD818E-ADFA-4579-856F-A3140DA02BD1}</a:tableStyleId>
              </a:tblPr>
              <a:tblGrid>
                <a:gridCol w="299298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9298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9298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07533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0861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>
                          <a:solidFill>
                            <a:schemeClr val="dk1"/>
                          </a:solidFill>
                          <a:latin typeface="Arial Narrow"/>
                          <a:ea typeface="Arial Narrow"/>
                          <a:cs typeface="Arial Narrow"/>
                          <a:sym typeface="Arial Narrow"/>
                        </a:rPr>
                        <a:t>TITLE OF PAPER</a:t>
                      </a:r>
                      <a:endParaRPr sz="2400" u="none" strike="noStrike" cap="none">
                        <a:solidFill>
                          <a:schemeClr val="dk1"/>
                        </a:solidFill>
                        <a:latin typeface="Arial Narrow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>
                          <a:solidFill>
                            <a:schemeClr val="dk1"/>
                          </a:solidFill>
                          <a:latin typeface="Arial Narrow"/>
                          <a:ea typeface="Arial Narrow"/>
                          <a:cs typeface="Arial Narrow"/>
                          <a:sym typeface="Arial Narrow"/>
                        </a:rPr>
                        <a:t>AUTHOR(S)</a:t>
                      </a:r>
                      <a:endParaRPr sz="2400" u="none" strike="noStrike" cap="none">
                        <a:solidFill>
                          <a:schemeClr val="dk1"/>
                        </a:solidFill>
                        <a:latin typeface="Arial Narrow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>
                          <a:solidFill>
                            <a:schemeClr val="dk1"/>
                          </a:solidFill>
                          <a:latin typeface="Arial Narrow"/>
                          <a:ea typeface="Arial Narrow"/>
                          <a:cs typeface="Arial Narrow"/>
                          <a:sym typeface="Arial Narrow"/>
                        </a:rPr>
                        <a:t>PAPER GIST</a:t>
                      </a:r>
                      <a:endParaRPr sz="2400" u="none" strike="noStrike" cap="none">
                        <a:solidFill>
                          <a:schemeClr val="dk1"/>
                        </a:solidFill>
                        <a:latin typeface="Arial Narrow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>
                          <a:solidFill>
                            <a:schemeClr val="dk1"/>
                          </a:solidFill>
                          <a:latin typeface="Arial Narrow"/>
                          <a:ea typeface="Arial Narrow"/>
                          <a:cs typeface="Arial Narrow"/>
                          <a:sym typeface="Arial Narrow"/>
                        </a:rPr>
                        <a:t>TECHNOLOGY USED</a:t>
                      </a:r>
                      <a:endParaRPr sz="2400" u="none" strike="noStrike" cap="none">
                        <a:solidFill>
                          <a:schemeClr val="dk1"/>
                        </a:solidFill>
                        <a:latin typeface="Arial Narrow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7969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 Systematic Review on Application of Multimodal Learning and Explainable AI in Tuberculosis Detection (2025)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Barbara </a:t>
                      </a:r>
                      <a:r>
                        <a:rPr lang="en-IN" sz="20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Nansamba</a:t>
                      </a:r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et al.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IEEE Access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Multimodal Learning, Explainable AI (Grad-CAM, SHAP, LIME)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36898491"/>
                  </a:ext>
                </a:extLst>
              </a:tr>
              <a:tr h="128163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Enhanced Tuberculosis Detection using Vision Transformers and Explainable AI (2025)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K. Vanitha et al.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Elsevier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Vision Transformer (ViT), Grad-CAM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619863"/>
                  </a:ext>
                </a:extLst>
              </a:tr>
              <a:tr h="128163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Lightweight Hybrid Deep Learning Model for Tuberculosis Detection (2025)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M. Owda et al.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Scientific Reports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Hybrid CNN Model, Deep Learning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28163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Multimodal Integration Pipeline for TB and Pneumonia Differentiation (2024)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Shao et al.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IEEE Access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Swin Transformer, BERT, Attention Fusion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7">
          <a:extLst>
            <a:ext uri="{FF2B5EF4-FFF2-40B4-BE49-F238E27FC236}">
              <a16:creationId xmlns:a16="http://schemas.microsoft.com/office/drawing/2014/main" id="{1634E83D-7B76-8F5B-4D18-D412B2DC29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5">
            <a:extLst>
              <a:ext uri="{FF2B5EF4-FFF2-40B4-BE49-F238E27FC236}">
                <a16:creationId xmlns:a16="http://schemas.microsoft.com/office/drawing/2014/main" id="{1E097ACD-95B5-3BF8-C736-3041BA9A6D20}"/>
              </a:ext>
            </a:extLst>
          </p:cNvPr>
          <p:cNvSpPr/>
          <p:nvPr/>
        </p:nvSpPr>
        <p:spPr>
          <a:xfrm>
            <a:off x="8753993" y="62420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200" b="0" i="0" u="none" strike="noStrike" cap="none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5">
            <a:extLst>
              <a:ext uri="{FF2B5EF4-FFF2-40B4-BE49-F238E27FC236}">
                <a16:creationId xmlns:a16="http://schemas.microsoft.com/office/drawing/2014/main" id="{B4B4EF17-288F-CB04-6D84-00E743ECBED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b="1">
                <a:solidFill>
                  <a:schemeClr val="dk1"/>
                </a:solidFill>
              </a:rPr>
              <a:t>6</a:t>
            </a:fld>
            <a:endParaRPr b="1">
              <a:solidFill>
                <a:schemeClr val="dk1"/>
              </a:solidFill>
            </a:endParaRPr>
          </a:p>
        </p:txBody>
      </p:sp>
      <p:graphicFrame>
        <p:nvGraphicFramePr>
          <p:cNvPr id="121" name="Google Shape;121;p5">
            <a:extLst>
              <a:ext uri="{FF2B5EF4-FFF2-40B4-BE49-F238E27FC236}">
                <a16:creationId xmlns:a16="http://schemas.microsoft.com/office/drawing/2014/main" id="{ABEBDAE9-FF4D-7191-B868-7F95CF60311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851661954"/>
              </p:ext>
            </p:extLst>
          </p:nvPr>
        </p:nvGraphicFramePr>
        <p:xfrm>
          <a:off x="108155" y="530941"/>
          <a:ext cx="11985522" cy="6190534"/>
        </p:xfrm>
        <a:graphic>
          <a:graphicData uri="http://schemas.openxmlformats.org/drawingml/2006/table">
            <a:tbl>
              <a:tblPr firstRow="1" bandRow="1">
                <a:noFill/>
                <a:tableStyleId>{3CDD818E-ADFA-4579-856F-A3140DA02BD1}</a:tableStyleId>
              </a:tblPr>
              <a:tblGrid>
                <a:gridCol w="29759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759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759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05778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93863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>
                          <a:solidFill>
                            <a:schemeClr val="dk1"/>
                          </a:solidFill>
                          <a:latin typeface="Arial Narrow"/>
                          <a:ea typeface="Arial Narrow"/>
                          <a:cs typeface="Arial Narrow"/>
                          <a:sym typeface="Arial Narrow"/>
                        </a:rPr>
                        <a:t>TITLE OF PAPER</a:t>
                      </a:r>
                      <a:endParaRPr sz="2400" u="none" strike="noStrike" cap="none">
                        <a:solidFill>
                          <a:schemeClr val="dk1"/>
                        </a:solidFill>
                        <a:latin typeface="Arial Narrow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>
                          <a:solidFill>
                            <a:schemeClr val="dk1"/>
                          </a:solidFill>
                          <a:latin typeface="Arial Narrow"/>
                          <a:ea typeface="Arial Narrow"/>
                          <a:cs typeface="Arial Narrow"/>
                          <a:sym typeface="Arial Narrow"/>
                        </a:rPr>
                        <a:t>AUTHOR(S)</a:t>
                      </a:r>
                      <a:endParaRPr sz="2400" u="none" strike="noStrike" cap="none">
                        <a:solidFill>
                          <a:schemeClr val="dk1"/>
                        </a:solidFill>
                        <a:latin typeface="Arial Narrow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 dirty="0">
                          <a:solidFill>
                            <a:schemeClr val="dk1"/>
                          </a:solidFill>
                          <a:latin typeface="Arial Narrow"/>
                          <a:ea typeface="Arial Narrow"/>
                          <a:cs typeface="Arial Narrow"/>
                          <a:sym typeface="Arial Narrow"/>
                        </a:rPr>
                        <a:t>PAPER GIST</a:t>
                      </a:r>
                      <a:endParaRPr sz="2400" u="none" strike="noStrike" cap="none" dirty="0">
                        <a:solidFill>
                          <a:schemeClr val="dk1"/>
                        </a:solidFill>
                        <a:latin typeface="Arial Narrow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>
                          <a:solidFill>
                            <a:schemeClr val="dk1"/>
                          </a:solidFill>
                          <a:latin typeface="Arial Narrow"/>
                          <a:ea typeface="Arial Narrow"/>
                          <a:cs typeface="Arial Narrow"/>
                          <a:sym typeface="Arial Narrow"/>
                        </a:rPr>
                        <a:t>TECHNOLOGY USED</a:t>
                      </a:r>
                      <a:endParaRPr sz="2400" u="none" strike="noStrike" cap="none">
                        <a:solidFill>
                          <a:schemeClr val="dk1"/>
                        </a:solidFill>
                        <a:latin typeface="Arial Narrow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5669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Deep Learning–based Diagnosis of Pulmonary Tuberculosis using Chest X-ray Images (2024)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C.H. Wang et al.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Springer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CNN, Image Classification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12890093"/>
                  </a:ext>
                </a:extLst>
              </a:tr>
              <a:tr h="135669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Explainable Artificial Intelligence Model for Lung Disease Detection (2024)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E. Mahamud et al.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Elsevier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DenseNet201, Transfer Learning, XAI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22896576"/>
                  </a:ext>
                </a:extLst>
              </a:tr>
              <a:tr h="132659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Multimodal Deep Learning for Pulmonary Abnormality Prediction (2023)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Shetty &amp; Mahale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Elsevier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CNN, DNN, Multimodal Fusion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99481423"/>
                  </a:ext>
                </a:extLst>
              </a:tr>
              <a:tr h="135669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Drug Resistance Classification using Radiological and Genomic Features (2023)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Bui et al.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Scientific Reports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Random Forest, Gradient Boosting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123628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b="1">
                <a:solidFill>
                  <a:schemeClr val="dk1"/>
                </a:solidFill>
              </a:rPr>
              <a:t>7</a:t>
            </a:fld>
            <a:endParaRPr b="1">
              <a:solidFill>
                <a:schemeClr val="dk1"/>
              </a:solidFill>
            </a:endParaRPr>
          </a:p>
        </p:txBody>
      </p:sp>
      <p:sp>
        <p:nvSpPr>
          <p:cNvPr id="127" name="Google Shape;127;p6"/>
          <p:cNvSpPr txBox="1"/>
          <p:nvPr/>
        </p:nvSpPr>
        <p:spPr>
          <a:xfrm>
            <a:off x="-1" y="0"/>
            <a:ext cx="12345600" cy="7078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algn="ctr">
              <a:defRPr sz="4000" b="1">
                <a:solidFill>
                  <a:schemeClr val="dk1"/>
                </a:solidFill>
                <a:latin typeface="Arial Narrow"/>
                <a:ea typeface="Arial Narrow"/>
                <a:cs typeface="Arial Narrow"/>
              </a:defRPr>
            </a:lvl1pPr>
          </a:lstStyle>
          <a:p>
            <a:r>
              <a:rPr lang="en-US">
                <a:sym typeface="Arial Narrow"/>
              </a:rPr>
              <a:t>EXISTING SYSTEM </a:t>
            </a:r>
            <a:r>
              <a:rPr lang="en-US"/>
              <a:t>ARCHITECTURE</a:t>
            </a:r>
            <a:endParaRPr>
              <a:sym typeface="Arial Narrow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9E1E1BF-EFDD-54C6-FB07-F56BB2018FD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5968" b="16383"/>
          <a:stretch>
            <a:fillRect/>
          </a:stretch>
        </p:blipFill>
        <p:spPr>
          <a:xfrm>
            <a:off x="434450" y="1612490"/>
            <a:ext cx="10805050" cy="411589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">
          <a:extLst>
            <a:ext uri="{FF2B5EF4-FFF2-40B4-BE49-F238E27FC236}">
              <a16:creationId xmlns:a16="http://schemas.microsoft.com/office/drawing/2014/main" id="{7FEFE7C5-B014-B248-A280-1360BE6D6E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6">
            <a:extLst>
              <a:ext uri="{FF2B5EF4-FFF2-40B4-BE49-F238E27FC236}">
                <a16:creationId xmlns:a16="http://schemas.microsoft.com/office/drawing/2014/main" id="{8DDF3340-775D-1206-5F9C-2A604B9E05F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b="1">
                <a:solidFill>
                  <a:schemeClr val="dk1"/>
                </a:solidFill>
              </a:rPr>
              <a:t>8</a:t>
            </a:fld>
            <a:endParaRPr b="1">
              <a:solidFill>
                <a:schemeClr val="dk1"/>
              </a:solidFill>
            </a:endParaRPr>
          </a:p>
        </p:txBody>
      </p:sp>
      <p:sp>
        <p:nvSpPr>
          <p:cNvPr id="127" name="Google Shape;127;p6">
            <a:extLst>
              <a:ext uri="{FF2B5EF4-FFF2-40B4-BE49-F238E27FC236}">
                <a16:creationId xmlns:a16="http://schemas.microsoft.com/office/drawing/2014/main" id="{1F26A455-1F7F-0E24-548B-1E2404FC73D5}"/>
              </a:ext>
            </a:extLst>
          </p:cNvPr>
          <p:cNvSpPr txBox="1"/>
          <p:nvPr/>
        </p:nvSpPr>
        <p:spPr>
          <a:xfrm>
            <a:off x="-1" y="0"/>
            <a:ext cx="12345600" cy="7078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algn="ctr">
              <a:defRPr sz="4000" b="1">
                <a:solidFill>
                  <a:schemeClr val="dk1"/>
                </a:solidFill>
                <a:latin typeface="Arial Narrow"/>
                <a:ea typeface="Arial Narrow"/>
                <a:cs typeface="Arial Narrow"/>
              </a:defRPr>
            </a:lvl1pPr>
          </a:lstStyle>
          <a:p>
            <a:r>
              <a:rPr lang="en-US">
                <a:sym typeface="Arial Narrow"/>
              </a:rPr>
              <a:t>PROBLEM IDENTIFICAITON</a:t>
            </a:r>
            <a:endParaRPr>
              <a:sym typeface="Arial Narrow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46869FC-73AA-6699-942A-E6BA1ED2F6EF}"/>
              </a:ext>
            </a:extLst>
          </p:cNvPr>
          <p:cNvSpPr txBox="1"/>
          <p:nvPr/>
        </p:nvSpPr>
        <p:spPr>
          <a:xfrm>
            <a:off x="991976" y="892512"/>
            <a:ext cx="11018001" cy="63401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+mj-lt"/>
              <a:buAutoNum type="arabicPeriod"/>
            </a:pPr>
            <a:r>
              <a:rPr lang="en-US" alt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Existing TB detection systems mainly rely on single-modal data such as chest X-ray </a:t>
            </a:r>
            <a:r>
              <a:rPr lang="en-US" altLang="en-US" sz="2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images.This</a:t>
            </a:r>
            <a:r>
              <a:rPr lang="en-US" alt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limits the ability to capture complete patient health information.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+mj-lt"/>
              <a:buAutoNum type="arabicPeriod"/>
            </a:pPr>
            <a:r>
              <a:rPr lang="en-US" alt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Detecting latent tuberculosis is difficult using traditional diagnostic methods.</a:t>
            </a:r>
            <a:br>
              <a:rPr lang="en-US" alt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Many systems focus only on identifying active TB cases.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+mj-lt"/>
              <a:buAutoNum type="arabicPeriod"/>
            </a:pPr>
            <a:r>
              <a:rPr lang="en-US" alt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Most deep learning models act as black-box </a:t>
            </a:r>
            <a:r>
              <a:rPr lang="en-US" altLang="en-US" sz="2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systems.This</a:t>
            </a:r>
            <a:r>
              <a:rPr lang="en-US" alt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makes it hard for doctors to understand how predictions are made.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+mj-lt"/>
              <a:buAutoNum type="arabicPeriod"/>
            </a:pPr>
            <a:r>
              <a:rPr lang="en-US" alt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Medical datasets often contain missing values and imbalanced </a:t>
            </a:r>
            <a:r>
              <a:rPr lang="en-US" altLang="en-US" sz="2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data.This</a:t>
            </a:r>
            <a:r>
              <a:rPr lang="en-US" alt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can reduce the reliability and accuracy of AI models.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+mj-lt"/>
              <a:buAutoNum type="arabicPeriod"/>
            </a:pPr>
            <a:r>
              <a:rPr lang="en-US" alt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Current systems provide limited support for clinical decision-</a:t>
            </a:r>
            <a:r>
              <a:rPr lang="en-US" altLang="en-US" sz="2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making.Doctors</a:t>
            </a:r>
            <a:r>
              <a:rPr lang="en-US" alt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require more transparent and interpretable AI-based tools.</a:t>
            </a:r>
            <a:br>
              <a:rPr lang="en-US" altLang="en-US" sz="2800" dirty="0">
                <a:solidFill>
                  <a:schemeClr val="tx1"/>
                </a:solidFill>
                <a:latin typeface="Arial" panose="020B0604020202020204" pitchFamily="34" charset="0"/>
              </a:rPr>
            </a:br>
            <a:endParaRPr lang="en-US" altLang="en-US" sz="28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endParaRPr lang="en-IN" dirty="0"/>
          </a:p>
        </p:txBody>
      </p:sp>
      <p:sp>
        <p:nvSpPr>
          <p:cNvPr id="8" name="Rectangle 4">
            <a:extLst>
              <a:ext uri="{FF2B5EF4-FFF2-40B4-BE49-F238E27FC236}">
                <a16:creationId xmlns:a16="http://schemas.microsoft.com/office/drawing/2014/main" id="{8908BBEF-29E5-BFDF-9618-5B32C95806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26481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148616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b="1">
                <a:solidFill>
                  <a:schemeClr val="dk1"/>
                </a:solidFill>
              </a:rPr>
              <a:t>9</a:t>
            </a:fld>
            <a:endParaRPr b="1">
              <a:solidFill>
                <a:schemeClr val="dk1"/>
              </a:solidFill>
            </a:endParaRPr>
          </a:p>
        </p:txBody>
      </p:sp>
      <p:sp>
        <p:nvSpPr>
          <p:cNvPr id="133" name="Google Shape;133;p7"/>
          <p:cNvSpPr txBox="1"/>
          <p:nvPr/>
        </p:nvSpPr>
        <p:spPr>
          <a:xfrm>
            <a:off x="-1" y="0"/>
            <a:ext cx="12192000" cy="7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/>
            <a:r>
              <a:rPr lang="en-US" sz="4000" b="1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rPr>
              <a:t>PROPOSED SYSTEM </a:t>
            </a:r>
            <a:r>
              <a:rPr lang="en-US" sz="4000" b="1">
                <a:solidFill>
                  <a:schemeClr val="dk1"/>
                </a:solidFill>
                <a:latin typeface="Arial Narrow"/>
              </a:rPr>
              <a:t>ARCHITECTURE</a:t>
            </a:r>
            <a:endParaRPr sz="4000" b="1">
              <a:solidFill>
                <a:schemeClr val="dk1"/>
              </a:solidFill>
              <a:latin typeface="Arial Narrow"/>
              <a:sym typeface="Arial Narrow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AF3EF0B-F6F7-6EB5-B581-FAD424277B8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5550" b="22541"/>
          <a:stretch>
            <a:fillRect/>
          </a:stretch>
        </p:blipFill>
        <p:spPr>
          <a:xfrm>
            <a:off x="1183622" y="1044726"/>
            <a:ext cx="9748391" cy="4790731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8"/>
          <p:cNvSpPr txBox="1">
            <a:spLocks noGrp="1"/>
          </p:cNvSpPr>
          <p:nvPr>
            <p:ph type="title"/>
          </p:nvPr>
        </p:nvSpPr>
        <p:spPr>
          <a:xfrm>
            <a:off x="0" y="0"/>
            <a:ext cx="121920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lang="en-US" b="1">
                <a:latin typeface="Arial Narrow"/>
                <a:ea typeface="Arial Narrow"/>
                <a:cs typeface="Arial Narrow"/>
                <a:sym typeface="Arial Narrow"/>
              </a:rPr>
              <a:t>SOFTWARE AND HARDWARE REQUIREMENTS </a:t>
            </a:r>
            <a:endParaRPr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139" name="Google Shape;139;p8"/>
          <p:cNvSpPr txBox="1">
            <a:spLocks noGrp="1"/>
          </p:cNvSpPr>
          <p:nvPr>
            <p:ph type="body" idx="2"/>
          </p:nvPr>
        </p:nvSpPr>
        <p:spPr>
          <a:xfrm>
            <a:off x="489995" y="1435261"/>
            <a:ext cx="5138223" cy="55674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just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 sz="2400" b="1" dirty="0">
                <a:latin typeface="Times New Roman" panose="02020603050405020304" pitchFamily="18" charset="0"/>
                <a:ea typeface="Arial Narrow"/>
                <a:cs typeface="Times New Roman" panose="02020603050405020304" pitchFamily="18" charset="0"/>
                <a:sym typeface="Arial Narrow"/>
              </a:rPr>
              <a:t>HARDWARE</a:t>
            </a:r>
          </a:p>
          <a:p>
            <a:pPr marL="0" lvl="0" indent="0" algn="just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endParaRPr sz="2400" dirty="0">
              <a:latin typeface="Times New Roman" panose="02020603050405020304" pitchFamily="18" charset="0"/>
              <a:ea typeface="Arial Narrow"/>
              <a:cs typeface="Times New Roman" panose="02020603050405020304" pitchFamily="18" charset="0"/>
              <a:sym typeface="Arial Narrow"/>
            </a:endParaRPr>
          </a:p>
          <a:p>
            <a:pPr lvl="0" indent="-457200" algn="just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+mj-lt"/>
              <a:buAutoNum type="arabicPeriod"/>
            </a:pPr>
            <a:r>
              <a:rPr lang="en-IN" sz="2400" dirty="0">
                <a:latin typeface="Times New Roman" panose="02020603050405020304" pitchFamily="18" charset="0"/>
                <a:ea typeface="Arial Narrow"/>
                <a:cs typeface="Times New Roman" panose="02020603050405020304" pitchFamily="18" charset="0"/>
                <a:sym typeface="Arial Narrow"/>
              </a:rPr>
              <a:t>Processor: Intel Core i5 or higher</a:t>
            </a:r>
          </a:p>
          <a:p>
            <a:pPr lvl="0" indent="-457200" algn="just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+mj-lt"/>
              <a:buAutoNum type="arabicPeriod"/>
            </a:pPr>
            <a:r>
              <a:rPr lang="en-IN" sz="2400" dirty="0">
                <a:latin typeface="Times New Roman" panose="02020603050405020304" pitchFamily="18" charset="0"/>
                <a:ea typeface="Arial Narrow"/>
                <a:cs typeface="Times New Roman" panose="02020603050405020304" pitchFamily="18" charset="0"/>
                <a:sym typeface="Arial Narrow"/>
              </a:rPr>
              <a:t>RAM: Minimum 8 GB (16 GB recommended)</a:t>
            </a:r>
          </a:p>
          <a:p>
            <a:pPr lvl="0" indent="-457200" algn="just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+mj-lt"/>
              <a:buAutoNum type="arabicPeriod"/>
            </a:pPr>
            <a:r>
              <a:rPr lang="en-IN" sz="2400" dirty="0">
                <a:latin typeface="Times New Roman" panose="02020603050405020304" pitchFamily="18" charset="0"/>
                <a:ea typeface="Arial Narrow"/>
                <a:cs typeface="Times New Roman" panose="02020603050405020304" pitchFamily="18" charset="0"/>
                <a:sym typeface="Arial Narrow"/>
              </a:rPr>
              <a:t>Storage: Minimum 256 GB SSD</a:t>
            </a:r>
          </a:p>
          <a:p>
            <a:pPr lvl="0" indent="-457200" algn="just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+mj-lt"/>
              <a:buAutoNum type="arabicPeriod"/>
            </a:pPr>
            <a:r>
              <a:rPr lang="en-IN" sz="2400" dirty="0">
                <a:latin typeface="Times New Roman" panose="02020603050405020304" pitchFamily="18" charset="0"/>
                <a:ea typeface="Arial Narrow"/>
                <a:cs typeface="Times New Roman" panose="02020603050405020304" pitchFamily="18" charset="0"/>
                <a:sym typeface="Arial Narrow"/>
              </a:rPr>
              <a:t>GPU: NVIDIA GPU with CUDA support (recommended for deep learning)</a:t>
            </a:r>
          </a:p>
          <a:p>
            <a:pPr lvl="0" indent="-457200" algn="just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+mj-lt"/>
              <a:buAutoNum type="arabicPeriod"/>
            </a:pPr>
            <a:r>
              <a:rPr lang="en-IN" sz="2400" dirty="0">
                <a:latin typeface="Times New Roman" panose="02020603050405020304" pitchFamily="18" charset="0"/>
                <a:ea typeface="Arial Narrow"/>
                <a:cs typeface="Times New Roman" panose="02020603050405020304" pitchFamily="18" charset="0"/>
                <a:sym typeface="Arial Narrow"/>
              </a:rPr>
              <a:t>Display: Standard </a:t>
            </a:r>
            <a:r>
              <a:rPr lang="en-IN" sz="2400" dirty="0" err="1">
                <a:latin typeface="Times New Roman" panose="02020603050405020304" pitchFamily="18" charset="0"/>
                <a:ea typeface="Arial Narrow"/>
                <a:cs typeface="Times New Roman" panose="02020603050405020304" pitchFamily="18" charset="0"/>
                <a:sym typeface="Arial Narrow"/>
              </a:rPr>
              <a:t>monitorInput</a:t>
            </a:r>
            <a:endParaRPr lang="en-IN" sz="2400" dirty="0">
              <a:latin typeface="Times New Roman" panose="02020603050405020304" pitchFamily="18" charset="0"/>
              <a:ea typeface="Arial Narrow"/>
              <a:cs typeface="Times New Roman" panose="02020603050405020304" pitchFamily="18" charset="0"/>
              <a:sym typeface="Arial Narrow"/>
            </a:endParaRPr>
          </a:p>
        </p:txBody>
      </p:sp>
      <p:sp>
        <p:nvSpPr>
          <p:cNvPr id="140" name="Google Shape;140;p8"/>
          <p:cNvSpPr txBox="1">
            <a:spLocks noGrp="1"/>
          </p:cNvSpPr>
          <p:nvPr>
            <p:ph type="body" idx="4"/>
          </p:nvPr>
        </p:nvSpPr>
        <p:spPr>
          <a:xfrm>
            <a:off x="5960961" y="1435261"/>
            <a:ext cx="5741044" cy="48150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 sz="2400" b="1">
                <a:latin typeface="Times New Roman" panose="02020603050405020304" pitchFamily="18" charset="0"/>
                <a:ea typeface="Arial Narrow"/>
                <a:cs typeface="Times New Roman" panose="02020603050405020304" pitchFamily="18" charset="0"/>
                <a:sym typeface="Arial Narrow"/>
              </a:rPr>
              <a:t>SOFTWARE</a:t>
            </a:r>
            <a:endParaRPr sz="2400" b="1">
              <a:latin typeface="Times New Roman" panose="02020603050405020304" pitchFamily="18" charset="0"/>
              <a:ea typeface="Arial Narrow"/>
              <a:cs typeface="Times New Roman" panose="02020603050405020304" pitchFamily="18" charset="0"/>
              <a:sym typeface="Arial Narrow"/>
            </a:endParaRPr>
          </a:p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None/>
            </a:pPr>
            <a:endParaRPr sz="2400">
              <a:latin typeface="Times New Roman" panose="02020603050405020304" pitchFamily="18" charset="0"/>
              <a:ea typeface="Arial Narrow"/>
              <a:cs typeface="Times New Roman" panose="02020603050405020304" pitchFamily="18" charset="0"/>
              <a:sym typeface="Arial Narrow"/>
            </a:endParaRPr>
          </a:p>
          <a:p>
            <a:pPr marL="514350" lvl="0" indent="-51435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AutoNum type="arabicPeriod"/>
            </a:pPr>
            <a:r>
              <a:rPr lang="en-US" sz="2400">
                <a:latin typeface="Times New Roman" panose="02020603050405020304" pitchFamily="18" charset="0"/>
                <a:ea typeface="Arial Narrow"/>
                <a:cs typeface="Times New Roman" panose="02020603050405020304" pitchFamily="18" charset="0"/>
                <a:sym typeface="Arial Narrow"/>
              </a:rPr>
              <a:t>Operating System: Windows / Linux</a:t>
            </a:r>
          </a:p>
          <a:p>
            <a:pPr marL="514350" lvl="0" indent="-51435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AutoNum type="arabicPeriod"/>
            </a:pPr>
            <a:r>
              <a:rPr lang="en-US" sz="2400">
                <a:latin typeface="Times New Roman" panose="02020603050405020304" pitchFamily="18" charset="0"/>
                <a:ea typeface="Arial Narrow"/>
                <a:cs typeface="Times New Roman" panose="02020603050405020304" pitchFamily="18" charset="0"/>
                <a:sym typeface="Arial Narrow"/>
              </a:rPr>
              <a:t>Programming Language: Python 3.x</a:t>
            </a:r>
          </a:p>
          <a:p>
            <a:pPr marL="514350" lvl="0" indent="-51435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AutoNum type="arabicPeriod"/>
            </a:pPr>
            <a:r>
              <a:rPr lang="en-US" sz="2400">
                <a:latin typeface="Times New Roman" panose="02020603050405020304" pitchFamily="18" charset="0"/>
                <a:ea typeface="Arial Narrow"/>
                <a:cs typeface="Times New Roman" panose="02020603050405020304" pitchFamily="18" charset="0"/>
                <a:sym typeface="Arial Narrow"/>
              </a:rPr>
              <a:t>Development Environment: </a:t>
            </a:r>
            <a:r>
              <a:rPr lang="en-US" sz="2400" err="1">
                <a:latin typeface="Times New Roman" panose="02020603050405020304" pitchFamily="18" charset="0"/>
                <a:ea typeface="Arial Narrow"/>
                <a:cs typeface="Times New Roman" panose="02020603050405020304" pitchFamily="18" charset="0"/>
                <a:sym typeface="Arial Narrow"/>
              </a:rPr>
              <a:t>Jupyter</a:t>
            </a:r>
            <a:r>
              <a:rPr lang="en-US" sz="2400">
                <a:latin typeface="Times New Roman" panose="02020603050405020304" pitchFamily="18" charset="0"/>
                <a:ea typeface="Arial Narrow"/>
                <a:cs typeface="Times New Roman" panose="02020603050405020304" pitchFamily="18" charset="0"/>
                <a:sym typeface="Arial Narrow"/>
              </a:rPr>
              <a:t> Notebook / VS Code / PyCharm</a:t>
            </a:r>
          </a:p>
          <a:p>
            <a:pPr marL="514350" lvl="0" indent="-51435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AutoNum type="arabicPeriod"/>
            </a:pPr>
            <a:r>
              <a:rPr lang="en-US" sz="2400">
                <a:latin typeface="Times New Roman" panose="02020603050405020304" pitchFamily="18" charset="0"/>
                <a:ea typeface="Arial Narrow"/>
                <a:cs typeface="Times New Roman" panose="02020603050405020304" pitchFamily="18" charset="0"/>
                <a:sym typeface="Arial Narrow"/>
              </a:rPr>
              <a:t>Deep Learning Frameworks: TensorFlow / </a:t>
            </a:r>
            <a:r>
              <a:rPr lang="en-US" sz="2400" err="1">
                <a:latin typeface="Times New Roman" panose="02020603050405020304" pitchFamily="18" charset="0"/>
                <a:ea typeface="Arial Narrow"/>
                <a:cs typeface="Times New Roman" panose="02020603050405020304" pitchFamily="18" charset="0"/>
                <a:sym typeface="Arial Narrow"/>
              </a:rPr>
              <a:t>PyTorch</a:t>
            </a:r>
            <a:endParaRPr lang="en-US" sz="2400">
              <a:latin typeface="Times New Roman" panose="02020603050405020304" pitchFamily="18" charset="0"/>
              <a:ea typeface="Arial Narrow"/>
              <a:cs typeface="Times New Roman" panose="02020603050405020304" pitchFamily="18" charset="0"/>
              <a:sym typeface="Arial Narrow"/>
            </a:endParaRPr>
          </a:p>
          <a:p>
            <a:pPr marL="514350" lvl="0" indent="-51435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AutoNum type="arabicPeriod"/>
            </a:pPr>
            <a:r>
              <a:rPr lang="en-US" sz="2400">
                <a:latin typeface="Times New Roman" panose="02020603050405020304" pitchFamily="18" charset="0"/>
                <a:ea typeface="Arial Narrow"/>
                <a:cs typeface="Times New Roman" panose="02020603050405020304" pitchFamily="18" charset="0"/>
                <a:sym typeface="Arial Narrow"/>
              </a:rPr>
              <a:t>Libraries: NumPy, Pandas, Scikit-learn, OpenCV, Matplotlib</a:t>
            </a:r>
          </a:p>
          <a:p>
            <a:pPr marL="514350" lvl="0" indent="-51435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AutoNum type="arabicPeriod"/>
            </a:pPr>
            <a:r>
              <a:rPr lang="en-US" sz="2400">
                <a:latin typeface="Times New Roman" panose="02020603050405020304" pitchFamily="18" charset="0"/>
                <a:ea typeface="Arial Narrow"/>
                <a:cs typeface="Times New Roman" panose="02020603050405020304" pitchFamily="18" charset="0"/>
                <a:sym typeface="Arial Narrow"/>
              </a:rPr>
              <a:t>Explainable AI Tools: SHAP, Grad-CAM</a:t>
            </a:r>
          </a:p>
        </p:txBody>
      </p:sp>
      <p:sp>
        <p:nvSpPr>
          <p:cNvPr id="141" name="Google Shape;141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 b="1">
                <a:solidFill>
                  <a:schemeClr val="dk1"/>
                </a:solidFill>
              </a:rPr>
              <a:t>10</a:t>
            </a:fld>
            <a:endParaRPr b="1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9"/>
          <p:cNvSpPr txBox="1">
            <a:spLocks noGrp="1"/>
          </p:cNvSpPr>
          <p:nvPr>
            <p:ph type="title"/>
          </p:nvPr>
        </p:nvSpPr>
        <p:spPr>
          <a:xfrm>
            <a:off x="0" y="0"/>
            <a:ext cx="12192000" cy="61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/>
              <a:buNone/>
            </a:pPr>
            <a:r>
              <a:rPr lang="en-US" b="1">
                <a:latin typeface="Arial Narrow"/>
                <a:ea typeface="Arial Narrow"/>
                <a:cs typeface="Arial Narrow"/>
                <a:sym typeface="Arial Narrow"/>
              </a:rPr>
              <a:t>MODULES </a:t>
            </a:r>
            <a:endParaRPr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147" name="Google Shape;147;p9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36509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514350" indent="-514350">
              <a:lnSpc>
                <a:spcPct val="150000"/>
              </a:lnSpc>
              <a:spcBef>
                <a:spcPts val="0"/>
              </a:spcBef>
              <a:buClr>
                <a:srgbClr val="FF0000"/>
              </a:buClr>
              <a:buSzPts val="2800"/>
              <a:buFont typeface="+mj-lt"/>
              <a:buAutoNum type="arabicPeriod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Authentication Module.</a:t>
            </a:r>
          </a:p>
          <a:p>
            <a:pPr marL="514350" indent="-514350">
              <a:lnSpc>
                <a:spcPct val="150000"/>
              </a:lnSpc>
              <a:spcBef>
                <a:spcPts val="0"/>
              </a:spcBef>
              <a:buClr>
                <a:srgbClr val="FF0000"/>
              </a:buClr>
              <a:buSzPts val="2800"/>
              <a:buFont typeface="+mj-lt"/>
              <a:buAutoNum type="arabicPeriod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Patient Data Entry Module.</a:t>
            </a:r>
          </a:p>
          <a:p>
            <a:pPr marL="514350" indent="-514350">
              <a:lnSpc>
                <a:spcPct val="150000"/>
              </a:lnSpc>
              <a:spcBef>
                <a:spcPts val="0"/>
              </a:spcBef>
              <a:buClr>
                <a:srgbClr val="FF0000"/>
              </a:buClr>
              <a:buSzPts val="2800"/>
              <a:buFont typeface="+mj-lt"/>
              <a:buAutoNum type="arabicPeriod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TB Detection and Explainable AI Module. </a:t>
            </a:r>
          </a:p>
          <a:p>
            <a:pPr marL="514350" indent="-514350">
              <a:lnSpc>
                <a:spcPct val="150000"/>
              </a:lnSpc>
              <a:spcBef>
                <a:spcPts val="0"/>
              </a:spcBef>
              <a:buClr>
                <a:srgbClr val="FF0000"/>
              </a:buClr>
              <a:buSzPts val="2800"/>
              <a:buFont typeface="+mj-lt"/>
              <a:buAutoNum type="arabicPeriod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Report Generation Module.</a:t>
            </a:r>
          </a:p>
          <a:p>
            <a:pPr marL="514350" indent="-514350">
              <a:lnSpc>
                <a:spcPct val="150000"/>
              </a:lnSpc>
              <a:spcBef>
                <a:spcPts val="0"/>
              </a:spcBef>
              <a:buClr>
                <a:srgbClr val="FF0000"/>
              </a:buClr>
              <a:buSzPts val="2800"/>
              <a:buFont typeface="+mj-lt"/>
              <a:buAutoNum type="arabicPeriod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Patient History and Admin Monitoring Module</a:t>
            </a: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None/>
            </a:pP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8" name="Google Shape;148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b="1">
                <a:solidFill>
                  <a:schemeClr val="dk1"/>
                </a:solidFill>
              </a:rPr>
              <a:t>11</a:t>
            </a:fld>
            <a:endParaRPr b="1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0"/>
          <p:cNvSpPr txBox="1">
            <a:spLocks noGrp="1"/>
          </p:cNvSpPr>
          <p:nvPr>
            <p:ph type="title"/>
          </p:nvPr>
        </p:nvSpPr>
        <p:spPr>
          <a:xfrm>
            <a:off x="0" y="0"/>
            <a:ext cx="12192000" cy="56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lvl="0" algn="ctr">
              <a:buSzPct val="100000"/>
            </a:pPr>
            <a:r>
              <a:rPr lang="en-US" b="1">
                <a:latin typeface="Arial Narrow"/>
                <a:ea typeface="Arial Narrow"/>
                <a:cs typeface="Arial Narrow"/>
                <a:sym typeface="Arial Narrow"/>
              </a:rPr>
              <a:t>IMPLEMENTATION OF MODULE-1</a:t>
            </a:r>
            <a:endParaRPr b="1"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154" name="Google Shape;154;p10"/>
          <p:cNvSpPr txBox="1">
            <a:spLocks noGrp="1"/>
          </p:cNvSpPr>
          <p:nvPr>
            <p:ph type="body" idx="1"/>
          </p:nvPr>
        </p:nvSpPr>
        <p:spPr>
          <a:xfrm>
            <a:off x="838200" y="1106905"/>
            <a:ext cx="6862011" cy="50700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514350" lvl="0" indent="-514350" algn="just">
              <a:lnSpc>
                <a:spcPct val="150000"/>
              </a:lnSpc>
              <a:spcBef>
                <a:spcPts val="0"/>
              </a:spcBef>
              <a:buClr>
                <a:srgbClr val="FF0000"/>
              </a:buClr>
              <a:buSzPts val="2800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module allows users to securely access the system through registration and login.</a:t>
            </a:r>
          </a:p>
          <a:p>
            <a:pPr marL="514350" lvl="0" indent="-514350" algn="just">
              <a:lnSpc>
                <a:spcPct val="150000"/>
              </a:lnSpc>
              <a:spcBef>
                <a:spcPts val="0"/>
              </a:spcBef>
              <a:buClr>
                <a:srgbClr val="FF0000"/>
              </a:buClr>
              <a:buSzPts val="2800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New users can create an account by providing their name, email, and password.</a:t>
            </a:r>
          </a:p>
          <a:p>
            <a:pPr marL="514350" lvl="0" indent="-514350" algn="just">
              <a:lnSpc>
                <a:spcPct val="150000"/>
              </a:lnSpc>
              <a:spcBef>
                <a:spcPts val="0"/>
              </a:spcBef>
              <a:buClr>
                <a:srgbClr val="FF0000"/>
              </a:buClr>
              <a:buSzPts val="2800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After authentication, users are redirected to the dashboard to use the TB detection system.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0000"/>
              </a:buClr>
              <a:buSzPts val="2800"/>
              <a:buNone/>
            </a:pPr>
            <a:endParaRPr dirty="0"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  <p:sp>
        <p:nvSpPr>
          <p:cNvPr id="155" name="Google Shape;155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b="1">
                <a:solidFill>
                  <a:schemeClr val="dk1"/>
                </a:solidFill>
              </a:rPr>
              <a:t>12</a:t>
            </a:fld>
            <a:endParaRPr b="1">
              <a:solidFill>
                <a:schemeClr val="dk1"/>
              </a:solidFill>
            </a:endParaRPr>
          </a:p>
        </p:txBody>
      </p:sp>
      <p:sp>
        <p:nvSpPr>
          <p:cNvPr id="3" name="AutoShape 4">
            <a:extLst>
              <a:ext uri="{FF2B5EF4-FFF2-40B4-BE49-F238E27FC236}">
                <a16:creationId xmlns:a16="http://schemas.microsoft.com/office/drawing/2014/main" id="{509656BB-8B2E-3E36-21FC-816E8E0F304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DC80563-81F0-96A8-0921-7B8B13942F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0211" y="743731"/>
            <a:ext cx="4319336" cy="5675338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1"/>
          <p:cNvSpPr txBox="1">
            <a:spLocks noGrp="1"/>
          </p:cNvSpPr>
          <p:nvPr>
            <p:ph type="body" idx="1"/>
          </p:nvPr>
        </p:nvSpPr>
        <p:spPr>
          <a:xfrm>
            <a:off x="838200" y="1472699"/>
            <a:ext cx="6685547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514350" lvl="0" indent="-514350">
              <a:lnSpc>
                <a:spcPct val="150000"/>
              </a:lnSpc>
              <a:spcBef>
                <a:spcPts val="0"/>
              </a:spcBef>
              <a:buClr>
                <a:srgbClr val="FF0000"/>
              </a:buClr>
              <a:buSzPts val="2800"/>
              <a:buFont typeface="+mj-lt"/>
              <a:buAutoNum type="arabicPeriod"/>
            </a:pP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This module collects patient information required for TB prediction.</a:t>
            </a:r>
          </a:p>
          <a:p>
            <a:pPr marL="514350" lvl="0" indent="-514350">
              <a:lnSpc>
                <a:spcPct val="150000"/>
              </a:lnSpc>
              <a:spcBef>
                <a:spcPts val="0"/>
              </a:spcBef>
              <a:buClr>
                <a:srgbClr val="FF0000"/>
              </a:buClr>
              <a:buSzPts val="2800"/>
              <a:buFont typeface="+mj-lt"/>
              <a:buAutoNum type="arabicPeriod"/>
            </a:pP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Users enter clinical data such as age, blood group, CBC, ESR, CRP, and patient symptoms.</a:t>
            </a:r>
          </a:p>
          <a:p>
            <a:pPr marL="514350" lvl="0" indent="-514350">
              <a:lnSpc>
                <a:spcPct val="150000"/>
              </a:lnSpc>
              <a:spcBef>
                <a:spcPts val="0"/>
              </a:spcBef>
              <a:buClr>
                <a:srgbClr val="FF0000"/>
              </a:buClr>
              <a:buSzPts val="2800"/>
              <a:buFont typeface="+mj-lt"/>
              <a:buAutoNum type="arabicPeriod"/>
            </a:pP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The system also allows uploading chest X-ray or scan images for analysis.</a:t>
            </a: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0000"/>
              </a:buClr>
              <a:buSzPts val="2800"/>
              <a:buNone/>
            </a:pPr>
            <a:endParaRPr>
              <a:latin typeface="Arial Narrow" panose="020B0606020202030204" pitchFamily="34" charset="0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1" name="Google Shape;161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b="1">
                <a:solidFill>
                  <a:schemeClr val="dk1"/>
                </a:solidFill>
              </a:rPr>
              <a:t>13</a:t>
            </a:fld>
            <a:endParaRPr b="1">
              <a:solidFill>
                <a:schemeClr val="dk1"/>
              </a:solidFill>
            </a:endParaRPr>
          </a:p>
        </p:txBody>
      </p:sp>
      <p:sp>
        <p:nvSpPr>
          <p:cNvPr id="162" name="Google Shape;162;p11"/>
          <p:cNvSpPr txBox="1">
            <a:spLocks noGrp="1"/>
          </p:cNvSpPr>
          <p:nvPr>
            <p:ph type="title"/>
          </p:nvPr>
        </p:nvSpPr>
        <p:spPr>
          <a:xfrm>
            <a:off x="0" y="0"/>
            <a:ext cx="12192000" cy="56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lvl="0" algn="ctr">
              <a:buSzPct val="100000"/>
            </a:pPr>
            <a:r>
              <a:rPr lang="en-US" b="1">
                <a:latin typeface="Arial Narrow"/>
                <a:ea typeface="Arial Narrow"/>
                <a:cs typeface="Arial Narrow"/>
                <a:sym typeface="Arial Narrow"/>
              </a:rPr>
              <a:t>IMPLEMENTATION OF MODULE-2</a:t>
            </a:r>
            <a:endParaRPr b="1">
              <a:latin typeface="Arial Narrow"/>
              <a:ea typeface="Arial Narrow"/>
              <a:cs typeface="Arial Narrow"/>
              <a:sym typeface="Arial Narrow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1B403CD-6B52-493D-78C7-F96B0F2CACD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1487" t="15302" r="33528"/>
          <a:stretch>
            <a:fillRect/>
          </a:stretch>
        </p:blipFill>
        <p:spPr>
          <a:xfrm>
            <a:off x="7523747" y="862224"/>
            <a:ext cx="4186991" cy="5198302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12"/>
          <p:cNvSpPr txBox="1">
            <a:spLocks noGrp="1"/>
          </p:cNvSpPr>
          <p:nvPr>
            <p:ph type="body" idx="1"/>
          </p:nvPr>
        </p:nvSpPr>
        <p:spPr>
          <a:xfrm>
            <a:off x="645695" y="927267"/>
            <a:ext cx="6300537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14350" lvl="0" indent="-514350">
              <a:lnSpc>
                <a:spcPct val="150000"/>
              </a:lnSpc>
              <a:spcBef>
                <a:spcPts val="0"/>
              </a:spcBef>
              <a:buSzPts val="2800"/>
              <a:buFont typeface="+mj-lt"/>
              <a:buAutoNum type="arabicPeriod"/>
            </a:pP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This module processes the patient data and medical images using the trained CNN model.</a:t>
            </a:r>
          </a:p>
          <a:p>
            <a:pPr marL="514350" lvl="0" indent="-514350">
              <a:lnSpc>
                <a:spcPct val="150000"/>
              </a:lnSpc>
              <a:spcBef>
                <a:spcPts val="0"/>
              </a:spcBef>
              <a:buSzPts val="2800"/>
              <a:buFont typeface="+mj-lt"/>
              <a:buAutoNum type="arabicPeriod"/>
            </a:pP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The system predicts whether tuberculosis is detected and identifies the TB type.</a:t>
            </a:r>
          </a:p>
          <a:p>
            <a:pPr marL="514350" lvl="0" indent="-514350">
              <a:lnSpc>
                <a:spcPct val="150000"/>
              </a:lnSpc>
              <a:spcBef>
                <a:spcPts val="0"/>
              </a:spcBef>
              <a:buSzPts val="2800"/>
              <a:buFont typeface="+mj-lt"/>
              <a:buAutoNum type="arabicPeriod"/>
            </a:pP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Grad-CAM visualization highlights important regions in the X-ray image for explanation.</a:t>
            </a: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8" name="Google Shape;168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b="1">
                <a:solidFill>
                  <a:schemeClr val="dk1"/>
                </a:solidFill>
              </a:rPr>
              <a:t>14</a:t>
            </a:fld>
            <a:endParaRPr b="1">
              <a:solidFill>
                <a:schemeClr val="dk1"/>
              </a:solidFill>
            </a:endParaRPr>
          </a:p>
        </p:txBody>
      </p:sp>
      <p:sp>
        <p:nvSpPr>
          <p:cNvPr id="169" name="Google Shape;169;p12"/>
          <p:cNvSpPr txBox="1">
            <a:spLocks noGrp="1"/>
          </p:cNvSpPr>
          <p:nvPr>
            <p:ph type="title"/>
          </p:nvPr>
        </p:nvSpPr>
        <p:spPr>
          <a:xfrm>
            <a:off x="0" y="0"/>
            <a:ext cx="12192000" cy="56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lvl="0" algn="ctr">
              <a:buSzPct val="100000"/>
            </a:pPr>
            <a:r>
              <a:rPr lang="en-US" b="1">
                <a:latin typeface="Arial Narrow"/>
                <a:ea typeface="Arial Narrow"/>
                <a:cs typeface="Arial Narrow"/>
                <a:sym typeface="Arial Narrow"/>
              </a:rPr>
              <a:t>IMPLEMENTATION OF MODULE-3</a:t>
            </a:r>
            <a:endParaRPr b="1">
              <a:latin typeface="Arial Narrow"/>
              <a:ea typeface="Arial Narrow"/>
              <a:cs typeface="Arial Narrow"/>
              <a:sym typeface="Arial Narrow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DA44865-21C1-A46E-7C3B-91C32D86008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9375" t="8544" r="29375"/>
          <a:stretch>
            <a:fillRect/>
          </a:stretch>
        </p:blipFill>
        <p:spPr>
          <a:xfrm>
            <a:off x="6677528" y="634569"/>
            <a:ext cx="5029200" cy="5653611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13"/>
          <p:cNvSpPr txBox="1">
            <a:spLocks noGrp="1"/>
          </p:cNvSpPr>
          <p:nvPr>
            <p:ph type="body" idx="1"/>
          </p:nvPr>
        </p:nvSpPr>
        <p:spPr>
          <a:xfrm>
            <a:off x="741947" y="1285706"/>
            <a:ext cx="64770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14350" lvl="0" indent="-514350">
              <a:lnSpc>
                <a:spcPct val="150000"/>
              </a:lnSpc>
              <a:spcBef>
                <a:spcPts val="0"/>
              </a:spcBef>
              <a:buSzPts val="2800"/>
              <a:buFont typeface="+mj-lt"/>
              <a:buAutoNum type="arabicPeriod"/>
            </a:pP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This module generates a detailed medical report based on the prediction results.</a:t>
            </a:r>
          </a:p>
          <a:p>
            <a:pPr marL="514350" lvl="0" indent="-514350">
              <a:lnSpc>
                <a:spcPct val="150000"/>
              </a:lnSpc>
              <a:spcBef>
                <a:spcPts val="0"/>
              </a:spcBef>
              <a:buSzPts val="2800"/>
              <a:buFont typeface="+mj-lt"/>
              <a:buAutoNum type="arabicPeriod"/>
            </a:pP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The report includes patient details, TB status, risk score, and medical explanation.</a:t>
            </a:r>
          </a:p>
          <a:p>
            <a:pPr marL="514350" lvl="0" indent="-514350">
              <a:lnSpc>
                <a:spcPct val="150000"/>
              </a:lnSpc>
              <a:spcBef>
                <a:spcPts val="0"/>
              </a:spcBef>
              <a:buSzPts val="2800"/>
              <a:buFont typeface="+mj-lt"/>
              <a:buAutoNum type="arabicPeriod"/>
            </a:pP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Users can download the report in PDF format for medical reference.</a:t>
            </a:r>
          </a:p>
        </p:txBody>
      </p:sp>
      <p:sp>
        <p:nvSpPr>
          <p:cNvPr id="175" name="Google Shape;175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b="1">
                <a:solidFill>
                  <a:schemeClr val="dk1"/>
                </a:solidFill>
              </a:rPr>
              <a:t>15</a:t>
            </a:fld>
            <a:endParaRPr b="1">
              <a:solidFill>
                <a:schemeClr val="dk1"/>
              </a:solidFill>
            </a:endParaRPr>
          </a:p>
        </p:txBody>
      </p:sp>
      <p:sp>
        <p:nvSpPr>
          <p:cNvPr id="176" name="Google Shape;176;p13"/>
          <p:cNvSpPr txBox="1">
            <a:spLocks noGrp="1"/>
          </p:cNvSpPr>
          <p:nvPr>
            <p:ph type="title"/>
          </p:nvPr>
        </p:nvSpPr>
        <p:spPr>
          <a:xfrm>
            <a:off x="0" y="0"/>
            <a:ext cx="12192000" cy="56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lvl="0" algn="ctr">
              <a:buSzPct val="100000"/>
            </a:pPr>
            <a:r>
              <a:rPr lang="en-US" b="1">
                <a:latin typeface="Arial Narrow"/>
                <a:ea typeface="Arial Narrow"/>
                <a:cs typeface="Arial Narrow"/>
                <a:sym typeface="Arial Narrow"/>
              </a:rPr>
              <a:t>IMPLEMENTATION OF MODULE-4</a:t>
            </a:r>
            <a:endParaRPr b="1">
              <a:latin typeface="Arial Narrow"/>
              <a:ea typeface="Arial Narrow"/>
              <a:cs typeface="Arial Narrow"/>
              <a:sym typeface="Arial Narrow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0778E12-D783-8661-ACBE-E6866367A8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18947" y="945144"/>
            <a:ext cx="4246403" cy="5593768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14"/>
          <p:cNvSpPr txBox="1">
            <a:spLocks noGrp="1"/>
          </p:cNvSpPr>
          <p:nvPr>
            <p:ph type="body" idx="1"/>
          </p:nvPr>
        </p:nvSpPr>
        <p:spPr>
          <a:xfrm>
            <a:off x="790074" y="1353968"/>
            <a:ext cx="6509084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14350" lvl="0" indent="-514350">
              <a:lnSpc>
                <a:spcPct val="160000"/>
              </a:lnSpc>
              <a:spcBef>
                <a:spcPts val="0"/>
              </a:spcBef>
              <a:buSzPts val="2800"/>
              <a:buFont typeface="+mj-lt"/>
              <a:buAutoNum type="arabicPeriod"/>
            </a:pP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This module stores previous prediction records for monitoring and analysis.</a:t>
            </a:r>
          </a:p>
          <a:p>
            <a:pPr marL="514350" lvl="0" indent="-514350">
              <a:lnSpc>
                <a:spcPct val="160000"/>
              </a:lnSpc>
              <a:spcBef>
                <a:spcPts val="0"/>
              </a:spcBef>
              <a:buSzPts val="2800"/>
              <a:buFont typeface="+mj-lt"/>
              <a:buAutoNum type="arabicPeriod"/>
            </a:pP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The admin panel displays registered users and patient prediction history.</a:t>
            </a:r>
          </a:p>
          <a:p>
            <a:pPr marL="514350" lvl="0" indent="-514350">
              <a:lnSpc>
                <a:spcPct val="160000"/>
              </a:lnSpc>
              <a:spcBef>
                <a:spcPts val="0"/>
              </a:spcBef>
              <a:buSzPts val="2800"/>
              <a:buFont typeface="+mj-lt"/>
              <a:buAutoNum type="arabicPeriod"/>
            </a:pP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It helps administrators track system usage and manage patient data effectively.</a:t>
            </a:r>
          </a:p>
        </p:txBody>
      </p:sp>
      <p:sp>
        <p:nvSpPr>
          <p:cNvPr id="182" name="Google Shape;182;p14"/>
          <p:cNvSpPr txBox="1">
            <a:spLocks noGrp="1"/>
          </p:cNvSpPr>
          <p:nvPr>
            <p:ph type="sldNum" idx="12"/>
          </p:nvPr>
        </p:nvSpPr>
        <p:spPr>
          <a:xfrm>
            <a:off x="94488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b="1">
                <a:solidFill>
                  <a:schemeClr val="dk1"/>
                </a:solidFill>
              </a:rPr>
              <a:t>16</a:t>
            </a:fld>
            <a:endParaRPr b="1">
              <a:solidFill>
                <a:schemeClr val="dk1"/>
              </a:solidFill>
            </a:endParaRPr>
          </a:p>
        </p:txBody>
      </p:sp>
      <p:sp>
        <p:nvSpPr>
          <p:cNvPr id="183" name="Google Shape;183;p14"/>
          <p:cNvSpPr txBox="1">
            <a:spLocks noGrp="1"/>
          </p:cNvSpPr>
          <p:nvPr>
            <p:ph type="title"/>
          </p:nvPr>
        </p:nvSpPr>
        <p:spPr>
          <a:xfrm>
            <a:off x="0" y="0"/>
            <a:ext cx="12192000" cy="56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lvl="0" algn="ctr">
              <a:buSzPct val="100000"/>
            </a:pPr>
            <a:r>
              <a:rPr lang="en-US" b="1">
                <a:latin typeface="Arial Narrow"/>
                <a:ea typeface="Arial Narrow"/>
                <a:cs typeface="Arial Narrow"/>
                <a:sym typeface="Arial Narrow"/>
              </a:rPr>
              <a:t>IMPLEMENTATION OF MODULE-5</a:t>
            </a:r>
            <a:endParaRPr b="1">
              <a:latin typeface="Arial Narrow"/>
              <a:ea typeface="Arial Narrow"/>
              <a:cs typeface="Arial Narrow"/>
              <a:sym typeface="Arial Narrow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8B8BA0F-F481-6277-9086-603777520E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62274" y="1152694"/>
            <a:ext cx="5053263" cy="4991432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16"/>
          <p:cNvSpPr txBox="1">
            <a:spLocks noGrp="1"/>
          </p:cNvSpPr>
          <p:nvPr>
            <p:ph type="title"/>
          </p:nvPr>
        </p:nvSpPr>
        <p:spPr>
          <a:xfrm>
            <a:off x="0" y="279520"/>
            <a:ext cx="12066900" cy="89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lang="en-US" b="1" dirty="0">
                <a:latin typeface="Arial Narrow"/>
                <a:ea typeface="Arial Narrow"/>
                <a:cs typeface="Arial Narrow"/>
                <a:sym typeface="Arial Narrow"/>
              </a:rPr>
              <a:t>CONCLUSION</a:t>
            </a:r>
            <a:endParaRPr b="1" dirty="0"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195" name="Google Shape;195;p16"/>
          <p:cNvSpPr txBox="1">
            <a:spLocks noGrp="1"/>
          </p:cNvSpPr>
          <p:nvPr>
            <p:ph type="body" idx="1"/>
          </p:nvPr>
        </p:nvSpPr>
        <p:spPr>
          <a:xfrm>
            <a:off x="775650" y="1176820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628650" indent="-514350" algn="just">
              <a:lnSpc>
                <a:spcPct val="100000"/>
              </a:lnSpc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presented an explainable multimodal AI framework for tuberculosis detection and classification. </a:t>
            </a:r>
          </a:p>
          <a:p>
            <a:pPr marL="628650" indent="-514350" algn="just">
              <a:lnSpc>
                <a:spcPct val="100000"/>
              </a:lnSpc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 integrating medical imaging, clinical data, and biomarker information, the proposed system improves diagnostic accuracy and effectively differentiates between active and latent tuberculosis.</a:t>
            </a:r>
          </a:p>
          <a:p>
            <a:pPr marL="628650" indent="-514350" algn="just">
              <a:lnSpc>
                <a:spcPct val="100000"/>
              </a:lnSpc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use of attention-based multimodal learning enables robust handling of missing data, while explainable AI techniques provide transparent and interpretable predictions. </a:t>
            </a:r>
          </a:p>
          <a:p>
            <a:pPr marL="628650" indent="-514350" algn="just">
              <a:lnSpc>
                <a:spcPct val="100000"/>
              </a:lnSpc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Overall, the system supports reliable clinical decision-making and addresses key limitations of existing TB detection approaches, demonstrating its potential for real-world healthcare applications.</a:t>
            </a:r>
          </a:p>
        </p:txBody>
      </p:sp>
      <p:sp>
        <p:nvSpPr>
          <p:cNvPr id="196" name="Google Shape;196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>
                <a:solidFill>
                  <a:schemeClr val="dk1"/>
                </a:solidFill>
              </a:rPr>
              <a:t>17</a:t>
            </a:fld>
            <a:endParaRPr dirty="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3">
          <a:extLst>
            <a:ext uri="{FF2B5EF4-FFF2-40B4-BE49-F238E27FC236}">
              <a16:creationId xmlns:a16="http://schemas.microsoft.com/office/drawing/2014/main" id="{158DC945-209D-3CC4-978D-F1775DC4CA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16">
            <a:extLst>
              <a:ext uri="{FF2B5EF4-FFF2-40B4-BE49-F238E27FC236}">
                <a16:creationId xmlns:a16="http://schemas.microsoft.com/office/drawing/2014/main" id="{41AD951B-2AFC-752E-2E78-41812B04042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0"/>
            <a:ext cx="12066900" cy="89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 algn="ctr">
              <a:buSzPts val="4400"/>
            </a:pPr>
            <a:r>
              <a:rPr lang="en-US" b="1">
                <a:latin typeface="Arial Narrow"/>
              </a:rPr>
              <a:t>FUTURE ENHANCEMENTS </a:t>
            </a:r>
            <a:endParaRPr b="1">
              <a:latin typeface="Arial Narrow"/>
              <a:sym typeface="Arial Narrow"/>
            </a:endParaRPr>
          </a:p>
        </p:txBody>
      </p:sp>
      <p:sp>
        <p:nvSpPr>
          <p:cNvPr id="195" name="Google Shape;195;p16">
            <a:extLst>
              <a:ext uri="{FF2B5EF4-FFF2-40B4-BE49-F238E27FC236}">
                <a16:creationId xmlns:a16="http://schemas.microsoft.com/office/drawing/2014/main" id="{648B83C1-3DE7-3E3F-40F8-76D0B624130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8200" y="1146356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14350" lvl="0" indent="-514350" algn="just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AutoNum type="arabicPeriod"/>
            </a:pPr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Improve prediction accuracy by integrating advanced deep learning models like Vision Transformers and 3D CNNs.</a:t>
            </a:r>
          </a:p>
          <a:p>
            <a:pPr marL="514350" lvl="0" indent="-514350" algn="just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AutoNum type="arabicPeriod"/>
            </a:pPr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Integrate the system with hospital information systems and electronic health records for better clinical workflow.</a:t>
            </a:r>
          </a:p>
          <a:p>
            <a:pPr marL="514350" lvl="0" indent="-514350" algn="just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AutoNum type="arabicPeriod"/>
            </a:pPr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Develop a mobile application to allow healthcare workers to upload and analyze X-ray images from remote areas.</a:t>
            </a:r>
          </a:p>
          <a:p>
            <a:pPr marL="514350" lvl="0" indent="-514350" algn="just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AutoNum type="arabicPeriod"/>
            </a:pPr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Perform clinical validation and obtain regulatory approvals to deploy the system in real healthcare environments.</a:t>
            </a:r>
          </a:p>
          <a:p>
            <a:pPr marL="514350" lvl="0" indent="-514350" algn="just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AutoNum type="arabicPeriod"/>
            </a:pPr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Extend the system to detect multiple lung diseases such as pneumonia, lung cancer, COVID-19, and pleural effusion.</a:t>
            </a:r>
          </a:p>
          <a:p>
            <a:pPr marL="0" lvl="0" indent="0">
              <a:spcBef>
                <a:spcPts val="0"/>
              </a:spcBef>
              <a:buSzPts val="2800"/>
              <a:buNone/>
            </a:pPr>
            <a:endParaRPr lang="en-US" dirty="0">
              <a:latin typeface="Arial Narrow" panose="020B0606020202030204" pitchFamily="34" charset="0"/>
            </a:endParaRPr>
          </a:p>
        </p:txBody>
      </p:sp>
      <p:sp>
        <p:nvSpPr>
          <p:cNvPr id="196" name="Google Shape;196;p16">
            <a:extLst>
              <a:ext uri="{FF2B5EF4-FFF2-40B4-BE49-F238E27FC236}">
                <a16:creationId xmlns:a16="http://schemas.microsoft.com/office/drawing/2014/main" id="{5F65EE21-0D87-9A7B-FC62-462463E7E7B8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solidFill>
                  <a:schemeClr val="dk1"/>
                </a:solidFill>
              </a:rPr>
              <a:t>18</a:t>
            </a:fld>
            <a:endParaRPr>
              <a:solidFill>
                <a:schemeClr val="dk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340704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1162</Words>
  <Application>Microsoft Office PowerPoint</Application>
  <PresentationFormat>Widescreen</PresentationFormat>
  <Paragraphs>150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3" baseType="lpstr">
      <vt:lpstr>Arial</vt:lpstr>
      <vt:lpstr>Times New Roman</vt:lpstr>
      <vt:lpstr>Calibri</vt:lpstr>
      <vt:lpstr>Arial Narrow</vt:lpstr>
      <vt:lpstr>Office Theme</vt:lpstr>
      <vt:lpstr>PowerPoint Presentation</vt:lpstr>
      <vt:lpstr>PowerPoint Presentation</vt:lpstr>
      <vt:lpstr>OBJECTIVE OF THE PROJECT</vt:lpstr>
      <vt:lpstr>INTRODUCTION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SOFTWARE AND HARDWARE REQUIREMENTS </vt:lpstr>
      <vt:lpstr>MODULES </vt:lpstr>
      <vt:lpstr>IMPLEMENTATION OF MODULE-1</vt:lpstr>
      <vt:lpstr>IMPLEMENTATION OF MODULE-2</vt:lpstr>
      <vt:lpstr>IMPLEMENTATION OF MODULE-3</vt:lpstr>
      <vt:lpstr>IMPLEMENTATION OF MODULE-4</vt:lpstr>
      <vt:lpstr>IMPLEMENTATION OF MODULE-5</vt:lpstr>
      <vt:lpstr>CONCLUSION</vt:lpstr>
      <vt:lpstr>FUTURE ENHANCEMENTS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Saravanan M</dc:creator>
  <cp:lastModifiedBy>Swathi Raj</cp:lastModifiedBy>
  <cp:revision>6</cp:revision>
  <dcterms:modified xsi:type="dcterms:W3CDTF">2026-03-29T14:45:16Z</dcterms:modified>
</cp:coreProperties>
</file>